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7406640" y="640080"/>
            <a:ext cx="4023360" cy="5212080"/>
          </a:xfrm>
          <a:prstGeom prst="arc">
            <a:avLst/>
          </a:prstGeom>
          <a:noFill/>
          <a:ln w="15240"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7543800" y="777240"/>
            <a:ext cx="3749040" cy="4937760"/>
          </a:xfrm>
          <a:prstGeom prst="arc">
            <a:avLst/>
          </a:prstGeom>
          <a:noFill/>
          <a:ln w="15240"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7680960" y="914400"/>
            <a:ext cx="3474720" cy="4663440"/>
          </a:xfrm>
          <a:prstGeom prst="arc">
            <a:avLst/>
          </a:prstGeom>
          <a:noFill/>
          <a:ln w="15240"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7818119" y="1051560"/>
            <a:ext cx="3200400" cy="4389120"/>
          </a:xfrm>
          <a:prstGeom prst="arc">
            <a:avLst/>
          </a:prstGeom>
          <a:noFill/>
          <a:ln w="15240"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7955279" y="1188719"/>
            <a:ext cx="2926080" cy="4114800"/>
          </a:xfrm>
          <a:prstGeom prst="arc">
            <a:avLst/>
          </a:prstGeom>
          <a:noFill/>
          <a:ln w="15240"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658368"/>
            <a:ext cx="1417320" cy="384048"/>
          </a:xfrm>
          <a:prstGeom prst="roundRect">
            <a:avLst>
              <a:gd name="adj" fmla="val 12000"/>
            </a:avLst>
          </a:prstGeom>
          <a:solidFill>
            <a:srgbClr val="8DD677"/>
          </a:solidFill>
          <a:ln>
            <a:solidFill>
              <a:srgbClr val="8DD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731520"/>
            <a:ext cx="132588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221D"/>
                </a:solidFill>
                <a:latin typeface="Aptos"/>
              </a:rPr>
              <a:t>SIH 26033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64008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8F5E7"/>
                </a:solidFill>
                <a:latin typeface="Aptos"/>
              </a:rPr>
              <a:t>CropCircle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606040"/>
            <a:ext cx="621792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8DD677"/>
                </a:solidFill>
                <a:latin typeface="Aptos"/>
              </a:rPr>
              <a:t>SELL FIRST. SHIP SMART.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337560"/>
            <a:ext cx="566928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B7CABE"/>
                </a:solidFill>
                <a:latin typeface="Aptos"/>
              </a:rPr>
              <a:t>A demand-first marketplace that helps farmers find buyers, share transport, and understand their real earnings.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" y="4800600"/>
            <a:ext cx="4663440" cy="621792"/>
          </a:xfrm>
          <a:prstGeom prst="roundRect">
            <a:avLst>
              <a:gd name="adj" fmla="val 12000"/>
            </a:avLst>
          </a:prstGeom>
          <a:solidFill>
            <a:srgbClr val="152A25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65192"/>
            <a:ext cx="42976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5E7"/>
                </a:solidFill>
                <a:latin typeface="Aptos"/>
              </a:rPr>
              <a:t>Agriculture • FoodTech • Rural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989320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7CABE"/>
                </a:solidFill>
                <a:latin typeface="Aptos"/>
              </a:rPr>
              <a:t>Smart India Hackathon Workshop Proposal</a:t>
            </a:r>
          </a:p>
        </p:txBody>
      </p:sp>
      <p:sp>
        <p:nvSpPr>
          <p:cNvPr id="15" name="Oval 14"/>
          <p:cNvSpPr/>
          <p:nvPr/>
        </p:nvSpPr>
        <p:spPr>
          <a:xfrm>
            <a:off x="8869680" y="914400"/>
            <a:ext cx="960120" cy="960120"/>
          </a:xfrm>
          <a:prstGeom prst="ellipse">
            <a:avLst/>
          </a:prstGeom>
          <a:solidFill>
            <a:srgbClr val="FFAE5B"/>
          </a:solidFill>
          <a:ln>
            <a:solidFill>
              <a:srgbClr val="FFA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7315200" y="3017520"/>
            <a:ext cx="914400" cy="2377440"/>
          </a:xfrm>
          <a:prstGeom prst="line">
            <a:avLst/>
          </a:prstGeom>
          <a:ln w="25400">
            <a:solidFill>
              <a:srgbClr val="8DD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909560" y="3017520"/>
            <a:ext cx="868680" cy="2377440"/>
          </a:xfrm>
          <a:prstGeom prst="line">
            <a:avLst/>
          </a:prstGeom>
          <a:ln w="25400">
            <a:solidFill>
              <a:srgbClr val="8DD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503920" y="3017520"/>
            <a:ext cx="822960" cy="2377440"/>
          </a:xfrm>
          <a:prstGeom prst="line">
            <a:avLst/>
          </a:prstGeom>
          <a:ln w="25400">
            <a:solidFill>
              <a:srgbClr val="8DD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098280" y="3017520"/>
            <a:ext cx="777240" cy="2377440"/>
          </a:xfrm>
          <a:prstGeom prst="line">
            <a:avLst/>
          </a:prstGeom>
          <a:ln w="25400">
            <a:solidFill>
              <a:srgbClr val="8DD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692640" y="3017520"/>
            <a:ext cx="731520" cy="2377440"/>
          </a:xfrm>
          <a:prstGeom prst="line">
            <a:avLst/>
          </a:prstGeom>
          <a:ln w="25400">
            <a:solidFill>
              <a:srgbClr val="8DD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366760" y="4251960"/>
            <a:ext cx="2240280" cy="1143000"/>
          </a:xfrm>
          <a:prstGeom prst="roundRect">
            <a:avLst>
              <a:gd name="adj" fmla="val 12000"/>
            </a:avLst>
          </a:prstGeom>
          <a:solidFill>
            <a:srgbClr val="FFAE5B"/>
          </a:solidFill>
          <a:ln>
            <a:solidFill>
              <a:srgbClr val="FFA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8869680" y="4343400"/>
            <a:ext cx="0" cy="914400"/>
          </a:xfrm>
          <a:prstGeom prst="line">
            <a:avLst/>
          </a:prstGeom>
          <a:ln w="12700">
            <a:solidFill>
              <a:srgbClr val="1422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81159" y="4343400"/>
            <a:ext cx="0" cy="914400"/>
          </a:xfrm>
          <a:prstGeom prst="line">
            <a:avLst/>
          </a:prstGeom>
          <a:ln w="12700">
            <a:solidFill>
              <a:srgbClr val="1422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92640" y="4343400"/>
            <a:ext cx="0" cy="914400"/>
          </a:xfrm>
          <a:prstGeom prst="line">
            <a:avLst/>
          </a:prstGeom>
          <a:ln w="12700">
            <a:solidFill>
              <a:srgbClr val="1422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04119" y="4343400"/>
            <a:ext cx="0" cy="914400"/>
          </a:xfrm>
          <a:prstGeom prst="line">
            <a:avLst/>
          </a:prstGeom>
          <a:ln w="12700">
            <a:solidFill>
              <a:srgbClr val="1422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412480" y="4800600"/>
            <a:ext cx="2148840" cy="0"/>
          </a:xfrm>
          <a:prstGeom prst="line">
            <a:avLst/>
          </a:prstGeom>
          <a:ln w="12700">
            <a:solidFill>
              <a:srgbClr val="1422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80960" y="5650992"/>
            <a:ext cx="3474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8DD677"/>
                </a:solidFill>
                <a:latin typeface="Aptos"/>
              </a:rPr>
              <a:t>FROM FARM  →  RIGHT BUYER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DD677"/>
                </a:solidFill>
                <a:latin typeface="Aptos"/>
              </a:rPr>
              <a:t>01 •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8F5E7"/>
                </a:solidFill>
                <a:latin typeface="Aptos"/>
              </a:rPr>
              <a:t>The problem isn't only the price.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It's the uncertainty before a farmer sends produce to market.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8890">
            <a:solidFill>
              <a:srgbClr val="425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92240"/>
            <a:ext cx="7315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7CABE"/>
                </a:solidFill>
                <a:latin typeface="Aptos"/>
              </a:rPr>
              <a:t>CROPCIRCLE  •  SIH 26033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83096"/>
            <a:ext cx="548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8DD677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64008" cy="1965960"/>
          </a:xfrm>
          <a:prstGeom prst="rect">
            <a:avLst/>
          </a:prstGeom>
          <a:solidFill>
            <a:srgbClr val="FFAE5B"/>
          </a:solidFill>
          <a:ln>
            <a:solidFill>
              <a:srgbClr val="FFA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39112"/>
            <a:ext cx="317296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5E7"/>
                </a:solidFill>
                <a:latin typeface="Aptos"/>
              </a:rPr>
              <a:t>Too many hand-offs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96312"/>
            <a:ext cx="3154680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Every extra step can add cost or reduce the farmer's share of the final price.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74519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74519"/>
            <a:ext cx="64008" cy="1965960"/>
          </a:xfrm>
          <a:prstGeom prst="rect">
            <a:avLst/>
          </a:prstGeom>
          <a:solidFill>
            <a:srgbClr val="8DD677"/>
          </a:solidFill>
          <a:ln>
            <a:solidFill>
              <a:srgbClr val="8DD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039112"/>
            <a:ext cx="317296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5E7"/>
                </a:solidFill>
                <a:latin typeface="Aptos"/>
              </a:rPr>
              <a:t>Transport gamble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496312"/>
            <a:ext cx="3154680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A farmer may pay to move produce without knowing whether a buyer is ready.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74519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874519"/>
            <a:ext cx="64008" cy="1965960"/>
          </a:xfrm>
          <a:prstGeom prst="rect">
            <a:avLst/>
          </a:prstGeom>
          <a:solidFill>
            <a:srgbClr val="FFAE5B"/>
          </a:solidFill>
          <a:ln>
            <a:solidFill>
              <a:srgbClr val="FFA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2039112"/>
            <a:ext cx="317296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5E7"/>
                </a:solidFill>
                <a:latin typeface="Aptos"/>
              </a:rPr>
              <a:t>Unsold &amp; wasted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496312"/>
            <a:ext cx="3154680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Perishable crops lose value when demand, timing, and delivery don't line 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43400"/>
            <a:ext cx="10744200" cy="1097280"/>
          </a:xfrm>
          <a:prstGeom prst="roundRect">
            <a:avLst>
              <a:gd name="adj" fmla="val 12000"/>
            </a:avLst>
          </a:prstGeom>
          <a:solidFill>
            <a:srgbClr val="152A25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53712"/>
            <a:ext cx="102870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8F5E7"/>
                </a:solidFill>
                <a:latin typeface="Aptos"/>
              </a:rPr>
              <a:t>Design question: Can we help farmers know where demand exists before they spend money on transport?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DD677"/>
                </a:solidFill>
                <a:latin typeface="Aptos"/>
              </a:rPr>
              <a:t>02 • OUR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8F5E7"/>
                </a:solidFill>
                <a:latin typeface="Aptos"/>
              </a:rPr>
              <a:t>Not just a marketplace. A decision helper.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CropCircle connects supply and demand before dispatch—not only after a product is listed.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8890">
            <a:solidFill>
              <a:srgbClr val="425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92240"/>
            <a:ext cx="7315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7CABE"/>
                </a:solidFill>
                <a:latin typeface="Aptos"/>
              </a:rPr>
              <a:t>CROPCIRCLE  •  SIH 26033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83096"/>
            <a:ext cx="548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8DD677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520440" cy="251460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64008" cy="2514600"/>
          </a:xfrm>
          <a:prstGeom prst="rect">
            <a:avLst/>
          </a:prstGeom>
          <a:solidFill>
            <a:srgbClr val="8DD677"/>
          </a:solidFill>
          <a:ln>
            <a:solidFill>
              <a:srgbClr val="8DD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93392"/>
            <a:ext cx="317296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5E7"/>
                </a:solidFill>
                <a:latin typeface="Aptos"/>
              </a:rPr>
              <a:t>01  Demand Bell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50592"/>
            <a:ext cx="3154680" cy="1783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Buyers post what they need. Farmers see nearby demand before deciding where to sell.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520440" cy="251460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64008" cy="2514600"/>
          </a:xfrm>
          <a:prstGeom prst="rect">
            <a:avLst/>
          </a:prstGeom>
          <a:solidFill>
            <a:srgbClr val="FFAE5B"/>
          </a:solidFill>
          <a:ln>
            <a:solidFill>
              <a:srgbClr val="FFA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993392"/>
            <a:ext cx="317296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5E7"/>
                </a:solidFill>
                <a:latin typeface="Aptos"/>
              </a:rPr>
              <a:t>02  Shared Basket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450592"/>
            <a:ext cx="3154680" cy="1783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Nearby farmers combine compatible orders so a vehicle can carry more in one trip.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20440" cy="251460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828800"/>
            <a:ext cx="64008" cy="2514600"/>
          </a:xfrm>
          <a:prstGeom prst="rect">
            <a:avLst/>
          </a:prstGeom>
          <a:solidFill>
            <a:srgbClr val="8DD677"/>
          </a:solidFill>
          <a:ln>
            <a:solidFill>
              <a:srgbClr val="8DD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993392"/>
            <a:ext cx="317296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5E7"/>
                </a:solidFill>
                <a:latin typeface="Aptos"/>
              </a:rPr>
              <a:t>03  Real-Earnings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450592"/>
            <a:ext cx="3154680" cy="1783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Compare buyer offers after transport and packaging costs—not just the headline price.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B7CABE"/>
                </a:solidFill>
                <a:latin typeface="Aptos"/>
              </a:rPr>
              <a:t>Later upgrade: a “Freshness Clock” to prioritize produce that needs faster delivery.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DD677"/>
                </a:solidFill>
                <a:latin typeface="Aptos"/>
              </a:rPr>
              <a:t>03 •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8F5E7"/>
                </a:solidFill>
                <a:latin typeface="Aptos"/>
              </a:rPr>
              <a:t>How CropCircle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One simple journey—from a buyer's need to a planned delivery.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8890">
            <a:solidFill>
              <a:srgbClr val="425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92240"/>
            <a:ext cx="7315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7CABE"/>
                </a:solidFill>
                <a:latin typeface="Aptos"/>
              </a:rPr>
              <a:t>CROPCIRCLE  •  SIH 26033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83096"/>
            <a:ext cx="548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8DD677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691640" cy="242316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52728" y="1938528"/>
            <a:ext cx="548640" cy="548640"/>
          </a:xfrm>
          <a:prstGeom prst="ellipse">
            <a:avLst/>
          </a:prstGeom>
          <a:solidFill>
            <a:srgbClr val="8DD677"/>
          </a:solidFill>
          <a:ln>
            <a:solidFill>
              <a:srgbClr val="8DD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084831"/>
            <a:ext cx="548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4221D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697480"/>
            <a:ext cx="146304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8F5E7"/>
                </a:solidFill>
                <a:latin typeface="Aptos"/>
              </a:rPr>
              <a:t>Post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310128"/>
            <a:ext cx="14630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B7CABE"/>
                </a:solidFill>
                <a:latin typeface="Aptos"/>
              </a:rPr>
              <a:t>Shop needs 50 kg tomatoes by tomorrow.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04872" y="3474720"/>
            <a:ext cx="493776" cy="0"/>
          </a:xfrm>
          <a:prstGeom prst="line">
            <a:avLst/>
          </a:prstGeom>
          <a:ln w="19050">
            <a:solidFill>
              <a:srgbClr val="8DD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71800" y="2267712"/>
            <a:ext cx="1691640" cy="242316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8728" y="1938528"/>
            <a:ext cx="548640" cy="548640"/>
          </a:xfrm>
          <a:prstGeom prst="ellipse">
            <a:avLst/>
          </a:prstGeom>
          <a:solidFill>
            <a:srgbClr val="FFAE5B"/>
          </a:solidFill>
          <a:ln>
            <a:solidFill>
              <a:srgbClr val="FFA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2084831"/>
            <a:ext cx="548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4221D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2697480"/>
            <a:ext cx="146304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8F5E7"/>
                </a:solidFill>
                <a:latin typeface="Aptos"/>
              </a:rPr>
              <a:t>Match supply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3310128"/>
            <a:ext cx="14630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B7CABE"/>
                </a:solidFill>
                <a:latin typeface="Aptos"/>
              </a:rPr>
              <a:t>System finds suitable farmers and quantities.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90872" y="3474720"/>
            <a:ext cx="493776" cy="0"/>
          </a:xfrm>
          <a:prstGeom prst="line">
            <a:avLst/>
          </a:prstGeom>
          <a:ln w="19050">
            <a:solidFill>
              <a:srgbClr val="8DD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257800" y="2267712"/>
            <a:ext cx="1691640" cy="242316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24728" y="1938528"/>
            <a:ext cx="548640" cy="548640"/>
          </a:xfrm>
          <a:prstGeom prst="ellipse">
            <a:avLst/>
          </a:prstGeom>
          <a:solidFill>
            <a:srgbClr val="8DD677"/>
          </a:solidFill>
          <a:ln>
            <a:solidFill>
              <a:srgbClr val="8DD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24728" y="2084831"/>
            <a:ext cx="548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4221D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2697480"/>
            <a:ext cx="146304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8F5E7"/>
                </a:solidFill>
                <a:latin typeface="Aptos"/>
              </a:rPr>
              <a:t>Compare earnings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3310128"/>
            <a:ext cx="14630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B7CABE"/>
                </a:solidFill>
                <a:latin typeface="Aptos"/>
              </a:rPr>
              <a:t>Show offer value after estimated costs.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76872" y="3474720"/>
            <a:ext cx="493776" cy="0"/>
          </a:xfrm>
          <a:prstGeom prst="line">
            <a:avLst/>
          </a:prstGeom>
          <a:ln w="19050">
            <a:solidFill>
              <a:srgbClr val="8DD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43800" y="2267712"/>
            <a:ext cx="1691640" cy="242316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10727" y="1938528"/>
            <a:ext cx="548640" cy="548640"/>
          </a:xfrm>
          <a:prstGeom prst="ellipse">
            <a:avLst/>
          </a:prstGeom>
          <a:solidFill>
            <a:srgbClr val="FFAE5B"/>
          </a:solidFill>
          <a:ln>
            <a:solidFill>
              <a:srgbClr val="FFA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0727" y="2084831"/>
            <a:ext cx="548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4221D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7" y="2697480"/>
            <a:ext cx="146304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8F5E7"/>
                </a:solidFill>
                <a:latin typeface="Aptos"/>
              </a:rPr>
              <a:t>Group the 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53527" y="3310128"/>
            <a:ext cx="14630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B7CABE"/>
                </a:solidFill>
                <a:latin typeface="Aptos"/>
              </a:rPr>
              <a:t>Combine nearby orders when timing and quality fit.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262872" y="3474720"/>
            <a:ext cx="493776" cy="0"/>
          </a:xfrm>
          <a:prstGeom prst="line">
            <a:avLst/>
          </a:prstGeom>
          <a:ln w="19050">
            <a:solidFill>
              <a:srgbClr val="8DD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829800" y="2267712"/>
            <a:ext cx="1691640" cy="242316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96728" y="1938528"/>
            <a:ext cx="548640" cy="548640"/>
          </a:xfrm>
          <a:prstGeom prst="ellipse">
            <a:avLst/>
          </a:prstGeom>
          <a:solidFill>
            <a:srgbClr val="8DD677"/>
          </a:solidFill>
          <a:ln>
            <a:solidFill>
              <a:srgbClr val="8DD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96728" y="2084831"/>
            <a:ext cx="548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4221D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9528" y="2697480"/>
            <a:ext cx="146304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8F5E7"/>
                </a:solidFill>
                <a:latin typeface="Aptos"/>
              </a:rPr>
              <a:t>Deliver &amp; learn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9528" y="3310128"/>
            <a:ext cx="14630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B7CABE"/>
                </a:solidFill>
                <a:latin typeface="Aptos"/>
              </a:rPr>
              <a:t>Record delivery, final price, and unsold quantity.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" y="5212080"/>
            <a:ext cx="10149840" cy="548640"/>
          </a:xfrm>
          <a:prstGeom prst="roundRect">
            <a:avLst>
              <a:gd name="adj" fmla="val 12000"/>
            </a:avLst>
          </a:prstGeom>
          <a:solidFill>
            <a:srgbClr val="152A25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5349240"/>
            <a:ext cx="98755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8F5E7"/>
                </a:solidFill>
                <a:latin typeface="Aptos"/>
              </a:rPr>
              <a:t>Key rule: matching is a recommendation; farmers and buyers still confirm each order.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DD677"/>
                </a:solidFill>
                <a:latin typeface="Aptos"/>
              </a:rPr>
              <a:t>04 •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8F5E7"/>
                </a:solidFill>
                <a:latin typeface="Aptos"/>
              </a:rPr>
              <a:t>A small example that makes the idea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Illustrative numbers only—used to demonstrate how the system thinks.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8890">
            <a:solidFill>
              <a:srgbClr val="425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92240"/>
            <a:ext cx="7315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7CABE"/>
                </a:solidFill>
                <a:latin typeface="Aptos"/>
              </a:rPr>
              <a:t>CROPCIRCLE  •  SIH 26033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83096"/>
            <a:ext cx="548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8DD677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840480" cy="347472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3291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DD677"/>
                </a:solidFill>
                <a:latin typeface="Aptos"/>
              </a:rPr>
              <a:t>TODAY'S 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8F5E7"/>
                </a:solidFill>
                <a:latin typeface="Aptos"/>
              </a:rPr>
              <a:t>3 farmers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63240"/>
            <a:ext cx="310896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7CABE"/>
                </a:solidFill>
                <a:latin typeface="Aptos"/>
              </a:rPr>
              <a:t>20 kg tomatoes 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AE5B"/>
                </a:solidFill>
                <a:latin typeface="Aptos"/>
              </a:rPr>
              <a:t>1 combined 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31546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A nearby buyer requests 50 kg. The platform checks quantities, timing, and delivery fit.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1828800"/>
            <a:ext cx="6537960" cy="3474720"/>
          </a:xfrm>
          <a:prstGeom prst="roundRect">
            <a:avLst>
              <a:gd name="adj" fmla="val 12000"/>
            </a:avLst>
          </a:prstGeom>
          <a:solidFill>
            <a:srgbClr val="152A25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2084831"/>
            <a:ext cx="5943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DD677"/>
                </a:solidFill>
                <a:latin typeface="Aptos"/>
              </a:rPr>
              <a:t>WHAT CROPCIRCLE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606040"/>
            <a:ext cx="15087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DD677"/>
                </a:solidFill>
                <a:latin typeface="Aptos"/>
              </a:rPr>
              <a:t>Demand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606040"/>
            <a:ext cx="42062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8F5E7"/>
                </a:solidFill>
                <a:latin typeface="Aptos"/>
              </a:rPr>
              <a:t>60 kg available • 50 kg requested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227832"/>
            <a:ext cx="15087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DD677"/>
                </a:solidFill>
                <a:latin typeface="Aptos"/>
              </a:rPr>
              <a:t>Order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227832"/>
            <a:ext cx="42062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8F5E7"/>
                </a:solidFill>
                <a:latin typeface="Aptos"/>
              </a:rPr>
              <a:t>Reserve 50 kg; keep 10 kg for another buyer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849624"/>
            <a:ext cx="15087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DD677"/>
                </a:solidFill>
                <a:latin typeface="Aptos"/>
              </a:rPr>
              <a:t>Transport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849624"/>
            <a:ext cx="42062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8F5E7"/>
                </a:solidFill>
                <a:latin typeface="Aptos"/>
              </a:rPr>
              <a:t>Check if one shared trip costs less per kg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471416"/>
            <a:ext cx="15087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AE5B"/>
                </a:solidFill>
                <a:latin typeface="Aptos"/>
              </a:rPr>
              <a:t>Decision 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471416"/>
            <a:ext cx="42062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8F5E7"/>
                </a:solidFill>
                <a:latin typeface="Aptos"/>
              </a:rPr>
              <a:t>Compare net earnings across buyer offers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23560"/>
            <a:ext cx="104241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B7CABE"/>
                </a:solidFill>
                <a:latin typeface="Aptos"/>
              </a:rPr>
              <a:t>The prototype should show the calculation—not promise savings before real testing.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DD677"/>
                </a:solidFill>
                <a:latin typeface="Aptos"/>
              </a:rPr>
              <a:t>05 • TECHNICAL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8F5E7"/>
                </a:solidFill>
                <a:latin typeface="Aptos"/>
              </a:rPr>
              <a:t>Build the smallest useful version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A first-year-friendly MVP, with advanced AI added only after the basics work.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8890">
            <a:solidFill>
              <a:srgbClr val="425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92240"/>
            <a:ext cx="7315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7CABE"/>
                </a:solidFill>
                <a:latin typeface="Aptos"/>
              </a:rPr>
              <a:t>CROPCIRCLE  •  SIH 26033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83096"/>
            <a:ext cx="548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8DD677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74720" cy="1874519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1874519"/>
          </a:xfrm>
          <a:prstGeom prst="rect">
            <a:avLst/>
          </a:prstGeom>
          <a:solidFill>
            <a:srgbClr val="8DD677"/>
          </a:solidFill>
          <a:ln>
            <a:solidFill>
              <a:srgbClr val="8DD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312724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5E7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50592"/>
            <a:ext cx="3108960" cy="11429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HTML • CSS • JavaScript
Simple farmer and buyer screens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74720" cy="1874519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64008" cy="1874519"/>
          </a:xfrm>
          <a:prstGeom prst="rect">
            <a:avLst/>
          </a:prstGeom>
          <a:solidFill>
            <a:srgbClr val="FFAE5B"/>
          </a:solidFill>
          <a:ln>
            <a:solidFill>
              <a:srgbClr val="FFA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93392"/>
            <a:ext cx="312724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5E7"/>
                </a:solidFill>
                <a:latin typeface="Aptos"/>
              </a:rPr>
              <a:t>Backend +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50592"/>
            <a:ext cx="3108960" cy="11429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Python • Django • SQLite
Store listings, requests, and orders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74720" cy="1874519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64008" cy="1874519"/>
          </a:xfrm>
          <a:prstGeom prst="rect">
            <a:avLst/>
          </a:prstGeom>
          <a:solidFill>
            <a:srgbClr val="8DD677"/>
          </a:solidFill>
          <a:ln>
            <a:solidFill>
              <a:srgbClr val="8DD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993392"/>
            <a:ext cx="312724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5E7"/>
                </a:solidFill>
                <a:latin typeface="Aptos"/>
              </a:rPr>
              <a:t>Smart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50592"/>
            <a:ext cx="3108960" cy="11429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Rule-based matching first
Then forecasting + route suggestions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96512"/>
            <a:ext cx="10515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5E7"/>
                </a:solidFill>
                <a:latin typeface="Aptos"/>
              </a:rPr>
              <a:t>Prototype milestones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17720"/>
            <a:ext cx="5120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✓  Week 1: screens + sample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617720"/>
            <a:ext cx="5120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✓  Week 2: supply-demand matching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12080"/>
            <a:ext cx="5120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✓  Week 3: net-earnings calculator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212080"/>
            <a:ext cx="5120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✓  Week 4: shared-delivery demo +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DD677"/>
                </a:solidFill>
                <a:latin typeface="Aptos"/>
              </a:rPr>
              <a:t>06 •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8F5E7"/>
                </a:solidFill>
                <a:latin typeface="Aptos"/>
              </a:rPr>
              <a:t>What could go wrong—and how we respond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A credible solution includes the limits, not just the benefits.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8890">
            <a:solidFill>
              <a:srgbClr val="425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92240"/>
            <a:ext cx="7315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7CABE"/>
                </a:solidFill>
                <a:latin typeface="Aptos"/>
              </a:rPr>
              <a:t>CROPCIRCLE  •  SIH 26033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83096"/>
            <a:ext cx="548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8DD677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55648"/>
            <a:ext cx="2971800" cy="621792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11095"/>
            <a:ext cx="2606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AE5B"/>
                </a:solidFill>
                <a:latin typeface="Aptos"/>
              </a:rPr>
              <a:t>Low digital confidence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40480" y="2066543"/>
            <a:ext cx="502920" cy="0"/>
          </a:xfrm>
          <a:prstGeom prst="line">
            <a:avLst/>
          </a:prstGeom>
          <a:ln w="19050">
            <a:solidFill>
              <a:srgbClr val="8DD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26280" y="1755648"/>
            <a:ext cx="6903720" cy="621792"/>
          </a:xfrm>
          <a:prstGeom prst="roundRect">
            <a:avLst>
              <a:gd name="adj" fmla="val 12000"/>
            </a:avLst>
          </a:prstGeom>
          <a:solidFill>
            <a:srgbClr val="152A25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892807"/>
            <a:ext cx="6400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8F5E7"/>
                </a:solidFill>
                <a:latin typeface="Aptos"/>
              </a:rPr>
              <a:t>Simple interface, regional-language labels, assisted registration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60320"/>
            <a:ext cx="2971800" cy="621792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15768"/>
            <a:ext cx="2606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AE5B"/>
                </a:solidFill>
                <a:latin typeface="Aptos"/>
              </a:rPr>
              <a:t>Little historical data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0480" y="2871215"/>
            <a:ext cx="502920" cy="0"/>
          </a:xfrm>
          <a:prstGeom prst="line">
            <a:avLst/>
          </a:prstGeom>
          <a:ln w="19050">
            <a:solidFill>
              <a:srgbClr val="8DD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26280" y="2560320"/>
            <a:ext cx="6903720" cy="621792"/>
          </a:xfrm>
          <a:prstGeom prst="roundRect">
            <a:avLst>
              <a:gd name="adj" fmla="val 12000"/>
            </a:avLst>
          </a:prstGeom>
          <a:solidFill>
            <a:srgbClr val="152A25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697479"/>
            <a:ext cx="6400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8F5E7"/>
                </a:solidFill>
                <a:latin typeface="Aptos"/>
              </a:rPr>
              <a:t>Start with buyer requests and basic averages; improve later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64991"/>
            <a:ext cx="2971800" cy="621792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20439"/>
            <a:ext cx="2606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AE5B"/>
                </a:solidFill>
                <a:latin typeface="Aptos"/>
              </a:rPr>
              <a:t>Small quantities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40480" y="3675887"/>
            <a:ext cx="502920" cy="0"/>
          </a:xfrm>
          <a:prstGeom prst="line">
            <a:avLst/>
          </a:prstGeom>
          <a:ln w="19050">
            <a:solidFill>
              <a:srgbClr val="8DD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26280" y="3364991"/>
            <a:ext cx="6903720" cy="621792"/>
          </a:xfrm>
          <a:prstGeom prst="roundRect">
            <a:avLst>
              <a:gd name="adj" fmla="val 12000"/>
            </a:avLst>
          </a:prstGeom>
          <a:solidFill>
            <a:srgbClr val="152A25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502151"/>
            <a:ext cx="6400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8F5E7"/>
                </a:solidFill>
                <a:latin typeface="Aptos"/>
              </a:rPr>
              <a:t>Group nearby orders only when timing, quality, and destination fit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9664"/>
            <a:ext cx="2971800" cy="621792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25112"/>
            <a:ext cx="2606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AE5B"/>
                </a:solidFill>
                <a:latin typeface="Aptos"/>
              </a:rPr>
              <a:t>Changing transport costs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40480" y="4480560"/>
            <a:ext cx="502920" cy="0"/>
          </a:xfrm>
          <a:prstGeom prst="line">
            <a:avLst/>
          </a:prstGeom>
          <a:ln w="19050">
            <a:solidFill>
              <a:srgbClr val="8DD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526280" y="4169664"/>
            <a:ext cx="6903720" cy="621792"/>
          </a:xfrm>
          <a:prstGeom prst="roundRect">
            <a:avLst>
              <a:gd name="adj" fmla="val 12000"/>
            </a:avLst>
          </a:prstGeom>
          <a:solidFill>
            <a:srgbClr val="152A25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4306824"/>
            <a:ext cx="6400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8F5E7"/>
                </a:solidFill>
                <a:latin typeface="Aptos"/>
              </a:rPr>
              <a:t>Use updated quotes and show estimates clearly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974336"/>
            <a:ext cx="2971800" cy="621792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129783"/>
            <a:ext cx="2606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AE5B"/>
                </a:solidFill>
                <a:latin typeface="Aptos"/>
              </a:rPr>
              <a:t>Cancellations / spoilage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840480" y="5285231"/>
            <a:ext cx="502920" cy="0"/>
          </a:xfrm>
          <a:prstGeom prst="line">
            <a:avLst/>
          </a:prstGeom>
          <a:ln w="19050">
            <a:solidFill>
              <a:srgbClr val="8DD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526280" y="4974336"/>
            <a:ext cx="6903720" cy="621792"/>
          </a:xfrm>
          <a:prstGeom prst="roundRect">
            <a:avLst>
              <a:gd name="adj" fmla="val 12000"/>
            </a:avLst>
          </a:prstGeom>
          <a:solidFill>
            <a:srgbClr val="152A25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5111496"/>
            <a:ext cx="6400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8F5E7"/>
                </a:solidFill>
                <a:latin typeface="Aptos"/>
              </a:rPr>
              <a:t>Confirm orders and prioritize urgent deliveries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DD677"/>
                </a:solidFill>
                <a:latin typeface="Aptos"/>
              </a:rPr>
              <a:t>07 •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8F5E7"/>
                </a:solidFill>
                <a:latin typeface="Aptos"/>
              </a:rPr>
              <a:t>Measure outcomes, don't just claim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The pilot will compare real results with a baseline.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8890">
            <a:solidFill>
              <a:srgbClr val="425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92240"/>
            <a:ext cx="7315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7CABE"/>
                </a:solidFill>
                <a:latin typeface="Aptos"/>
              </a:rPr>
              <a:t>CROPCIRCLE  •  SIH 26033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83096"/>
            <a:ext cx="548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8DD677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2011680" cy="155448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8DD677"/>
                </a:solidFill>
                <a:latin typeface="Aptos"/>
              </a:rPr>
              <a:t>₹ / kg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8F5E7"/>
                </a:solidFill>
                <a:latin typeface="Aptos"/>
              </a:rPr>
              <a:t>Net farmer earnings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0088" y="2011680"/>
            <a:ext cx="2011680" cy="155448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2331720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AE5B"/>
                </a:solidFill>
                <a:latin typeface="Aptos"/>
              </a:rPr>
              <a:t>₹ / 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88036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8F5E7"/>
                </a:solidFill>
                <a:latin typeface="Aptos"/>
              </a:rPr>
              <a:t>Transport cost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94376" y="2011680"/>
            <a:ext cx="2011680" cy="155448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5816" y="2331720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8DD677"/>
                </a:solidFill>
                <a:latin typeface="Aptos"/>
              </a:rPr>
              <a:t>% matched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5816" y="288036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8F5E7"/>
                </a:solidFill>
                <a:latin typeface="Aptos"/>
              </a:rPr>
              <a:t>Buyer requests fulfilled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98664" y="2011680"/>
            <a:ext cx="2011680" cy="155448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0104" y="2331720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AE5B"/>
                </a:solidFill>
                <a:latin typeface="Aptos"/>
              </a:rPr>
              <a:t>kg unsold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0104" y="288036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8F5E7"/>
                </a:solidFill>
                <a:latin typeface="Aptos"/>
              </a:rPr>
              <a:t>Produce left over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02952" y="2011680"/>
            <a:ext cx="2011680" cy="155448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94392" y="2331720"/>
            <a:ext cx="1828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8DD677"/>
                </a:solidFill>
                <a:latin typeface="Aptos"/>
              </a:rPr>
              <a:t>% on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94392" y="288036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8F5E7"/>
                </a:solidFill>
                <a:latin typeface="Aptos"/>
              </a:rPr>
              <a:t>Delivery reliability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69080"/>
            <a:ext cx="10424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5E7"/>
                </a:solidFill>
                <a:latin typeface="Aptos"/>
              </a:rPr>
              <a:t>Expected benefits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26280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•  Farmers get more informed selling options.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377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•  Buyers can source from a wider group of suppliers.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•  Shared trips may reduce avoidable logistics costs and spoilage.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DD677"/>
                </a:solidFill>
                <a:latin typeface="Aptos"/>
              </a:rPr>
              <a:t>08 • 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8F5E7"/>
                </a:solidFill>
                <a:latin typeface="Aptos"/>
              </a:rPr>
              <a:t>Our innovation is in the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Demand → matching → earnings → shared delivery.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8890">
            <a:solidFill>
              <a:srgbClr val="425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92240"/>
            <a:ext cx="7315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7CABE"/>
                </a:solidFill>
                <a:latin typeface="Aptos"/>
              </a:rPr>
              <a:t>CROPCIRCLE  •  SIH 26033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83096"/>
            <a:ext cx="548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8DD677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383280" cy="237744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64008" cy="2377440"/>
          </a:xfrm>
          <a:prstGeom prst="rect">
            <a:avLst/>
          </a:prstGeom>
          <a:solidFill>
            <a:srgbClr val="FFAE5B"/>
          </a:solidFill>
          <a:ln>
            <a:solidFill>
              <a:srgbClr val="FFA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39112"/>
            <a:ext cx="30358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5E7"/>
                </a:solidFill>
                <a:latin typeface="Aptos"/>
              </a:rPr>
              <a:t>Typical listing-first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96312"/>
            <a:ext cx="301752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1. Farmer lists produce
2. Waits for buyer
3. Arranges transport later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874519"/>
            <a:ext cx="3383280" cy="237744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874519"/>
            <a:ext cx="64008" cy="2377440"/>
          </a:xfrm>
          <a:prstGeom prst="rect">
            <a:avLst/>
          </a:prstGeom>
          <a:solidFill>
            <a:srgbClr val="8DD677"/>
          </a:solidFill>
          <a:ln>
            <a:solidFill>
              <a:srgbClr val="8DD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039112"/>
            <a:ext cx="30358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5E7"/>
                </a:solidFill>
                <a:latin typeface="Aptos"/>
              </a:rPr>
              <a:t>CropCircle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96312"/>
            <a:ext cx="301752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1. Buyer demand is visible
2. Match supply before dispatch
3. Compare net earnings
4. Group compatible deliveries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74519"/>
            <a:ext cx="3383280" cy="237744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74519"/>
            <a:ext cx="64008" cy="2377440"/>
          </a:xfrm>
          <a:prstGeom prst="rect">
            <a:avLst/>
          </a:prstGeom>
          <a:solidFill>
            <a:srgbClr val="FFAE5B"/>
          </a:solidFill>
          <a:ln>
            <a:solidFill>
              <a:srgbClr val="FFA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039112"/>
            <a:ext cx="30358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8F5E7"/>
                </a:solidFill>
                <a:latin typeface="Aptos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96312"/>
            <a:ext cx="301752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The project focuses on reducing uncertainty before transport—not just putting listings online.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800600"/>
            <a:ext cx="10149840" cy="640080"/>
          </a:xfrm>
          <a:prstGeom prst="roundRect">
            <a:avLst>
              <a:gd name="adj" fmla="val 12000"/>
            </a:avLst>
          </a:prstGeom>
          <a:solidFill>
            <a:srgbClr val="152A25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965192"/>
            <a:ext cx="96926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8F5E7"/>
                </a:solidFill>
                <a:latin typeface="Aptos"/>
              </a:rPr>
              <a:t>Unique angle: a “before-you-ship” decision layer for small farmers.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DD677"/>
                </a:solidFill>
                <a:latin typeface="Aptos"/>
              </a:rPr>
              <a:t>09 •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8F5E7"/>
                </a:solidFill>
                <a:latin typeface="Aptos"/>
              </a:rPr>
              <a:t>From workshop idea to 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Keep the first demo focused and achievable.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8890">
            <a:solidFill>
              <a:srgbClr val="425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92240"/>
            <a:ext cx="7315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7CABE"/>
                </a:solidFill>
                <a:latin typeface="Aptos"/>
              </a:rPr>
              <a:t>CROPCIRCLE  •  SIH 26033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83096"/>
            <a:ext cx="548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8DD677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2514600" cy="233172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1488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DD677"/>
                </a:solidFill>
                <a:latin typeface="Aptos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2148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5E7"/>
                </a:solidFill>
                <a:latin typeface="Aptos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64992"/>
            <a:ext cx="21488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Farmer / buyer forms
Sample produce data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73552" y="3310128"/>
            <a:ext cx="265176" cy="0"/>
          </a:xfrm>
          <a:prstGeom prst="line">
            <a:avLst/>
          </a:prstGeom>
          <a:ln w="25400">
            <a:solidFill>
              <a:srgbClr val="FFA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11880" y="2148840"/>
            <a:ext cx="2514600" cy="233172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377440"/>
            <a:ext cx="21488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DD677"/>
                </a:solidFill>
                <a:latin typeface="Aptos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788920"/>
            <a:ext cx="2148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5E7"/>
                </a:solidFill>
                <a:latin typeface="Aptos"/>
              </a:rPr>
              <a:t>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364992"/>
            <a:ext cx="21488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Find compatible orders
Show quantity gaps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53912" y="3310128"/>
            <a:ext cx="265176" cy="0"/>
          </a:xfrm>
          <a:prstGeom prst="line">
            <a:avLst/>
          </a:prstGeom>
          <a:ln w="25400">
            <a:solidFill>
              <a:srgbClr val="FFA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92240" y="2148840"/>
            <a:ext cx="2514600" cy="233172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377440"/>
            <a:ext cx="21488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DD677"/>
                </a:solidFill>
                <a:latin typeface="Aptos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788920"/>
            <a:ext cx="2148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5E7"/>
                </a:solidFill>
                <a:latin typeface="Aptos"/>
              </a:rPr>
              <a:t>Calculate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364992"/>
            <a:ext cx="21488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Net earnings comparison
Transport-cost estimates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34272" y="3310128"/>
            <a:ext cx="265176" cy="0"/>
          </a:xfrm>
          <a:prstGeom prst="line">
            <a:avLst/>
          </a:prstGeom>
          <a:ln w="25400">
            <a:solidFill>
              <a:srgbClr val="FFA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72600" y="2148840"/>
            <a:ext cx="2514600" cy="2331720"/>
          </a:xfrm>
          <a:prstGeom prst="roundRect">
            <a:avLst>
              <a:gd name="adj" fmla="val 12000"/>
            </a:avLst>
          </a:prstGeom>
          <a:solidFill>
            <a:srgbClr val="1D3931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2377440"/>
            <a:ext cx="21488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DD677"/>
                </a:solidFill>
                <a:latin typeface="Aptos"/>
              </a:rPr>
              <a:t>PHASE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788920"/>
            <a:ext cx="2148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8F5E7"/>
                </a:solidFill>
                <a:latin typeface="Aptos"/>
              </a:rPr>
              <a:t>Demonstrate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3364992"/>
            <a:ext cx="21488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Shared-load scenario
Collect feedback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29200"/>
            <a:ext cx="10332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8F5E7"/>
                </a:solidFill>
                <a:latin typeface="Aptos"/>
              </a:rPr>
              <a:t>Pilot group: a few farmers + local shops / restaurants + one transport partner.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DD677"/>
                </a:solidFill>
                <a:latin typeface="Aptos"/>
              </a:rPr>
              <a:t>10 •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8F5E7"/>
                </a:solidFill>
                <a:latin typeface="Aptos"/>
              </a:rPr>
              <a:t>Build on 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7CABE"/>
                </a:solidFill>
                <a:latin typeface="Aptos"/>
              </a:rPr>
              <a:t>References for the problem space and proposed technology.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8890">
            <a:solidFill>
              <a:srgbClr val="425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92240"/>
            <a:ext cx="7315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7CABE"/>
                </a:solidFill>
                <a:latin typeface="Aptos"/>
              </a:rPr>
              <a:t>CROPCIRCLE  •  SIH 26033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83096"/>
            <a:ext cx="548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8DD677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10652760" cy="658368"/>
          </a:xfrm>
          <a:prstGeom prst="roundRect">
            <a:avLst>
              <a:gd name="adj" fmla="val 12000"/>
            </a:avLst>
          </a:prstGeom>
          <a:solidFill>
            <a:srgbClr val="152A25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10512"/>
            <a:ext cx="24688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DD677"/>
                </a:solidFill>
                <a:latin typeface="Aptos"/>
              </a:rPr>
              <a:t>e-NAM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810512"/>
            <a:ext cx="48463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8F5E7"/>
                </a:solidFill>
                <a:latin typeface="Aptos"/>
              </a:rPr>
              <a:t>Agricultural electronic trading and price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810512"/>
            <a:ext cx="2834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7CABE"/>
                </a:solidFill>
                <a:latin typeface="Aptos"/>
              </a:rPr>
              <a:t>enam.gov.in/web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523744"/>
            <a:ext cx="10652760" cy="658368"/>
          </a:xfrm>
          <a:prstGeom prst="roundRect">
            <a:avLst>
              <a:gd name="adj" fmla="val 12000"/>
            </a:avLst>
          </a:prstGeom>
          <a:solidFill>
            <a:srgbClr val="152A25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642616"/>
            <a:ext cx="24688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DD677"/>
                </a:solidFill>
                <a:latin typeface="Aptos"/>
              </a:rPr>
              <a:t>Digital Agriculture 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642616"/>
            <a:ext cx="48463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8F5E7"/>
                </a:solidFill>
                <a:latin typeface="Aptos"/>
              </a:rPr>
              <a:t>Government context for digital agriculture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642616"/>
            <a:ext cx="2834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7CABE"/>
                </a:solidFill>
                <a:latin typeface="Aptos"/>
              </a:rPr>
              <a:t>pib.gov.in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355848"/>
            <a:ext cx="10652760" cy="658368"/>
          </a:xfrm>
          <a:prstGeom prst="roundRect">
            <a:avLst>
              <a:gd name="adj" fmla="val 12000"/>
            </a:avLst>
          </a:prstGeom>
          <a:solidFill>
            <a:srgbClr val="152A25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474720"/>
            <a:ext cx="24688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DD677"/>
                </a:solidFill>
                <a:latin typeface="Aptos"/>
              </a:rPr>
              <a:t>OpenStreetMap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474720"/>
            <a:ext cx="48463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8F5E7"/>
                </a:solidFill>
                <a:latin typeface="Aptos"/>
              </a:rPr>
              <a:t>Open mapping data for locations and routes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474720"/>
            <a:ext cx="2834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7CABE"/>
                </a:solidFill>
                <a:latin typeface="Aptos"/>
              </a:rPr>
              <a:t>openstreetmap.org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187952"/>
            <a:ext cx="10652760" cy="658368"/>
          </a:xfrm>
          <a:prstGeom prst="roundRect">
            <a:avLst>
              <a:gd name="adj" fmla="val 12000"/>
            </a:avLst>
          </a:prstGeom>
          <a:solidFill>
            <a:srgbClr val="152A25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306824"/>
            <a:ext cx="24688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DD677"/>
                </a:solidFill>
                <a:latin typeface="Aptos"/>
              </a:rPr>
              <a:t>Scikit-learn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306824"/>
            <a:ext cx="48463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8F5E7"/>
                </a:solidFill>
                <a:latin typeface="Aptos"/>
              </a:rPr>
              <a:t>Machine-learning models and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306824"/>
            <a:ext cx="2834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7CABE"/>
                </a:solidFill>
                <a:latin typeface="Aptos"/>
              </a:rPr>
              <a:t>scikit-learn.org/stable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020056"/>
            <a:ext cx="10652760" cy="658368"/>
          </a:xfrm>
          <a:prstGeom prst="roundRect">
            <a:avLst>
              <a:gd name="adj" fmla="val 12000"/>
            </a:avLst>
          </a:prstGeom>
          <a:solidFill>
            <a:srgbClr val="152A25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5138928"/>
            <a:ext cx="24688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DD677"/>
                </a:solidFill>
                <a:latin typeface="Aptos"/>
              </a:rPr>
              <a:t>Django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138928"/>
            <a:ext cx="48463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8F5E7"/>
                </a:solidFill>
                <a:latin typeface="Aptos"/>
              </a:rPr>
              <a:t>Web application and backend framework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138928"/>
            <a:ext cx="28346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7CABE"/>
                </a:solidFill>
                <a:latin typeface="Aptos"/>
              </a:rPr>
              <a:t>docs.djangoproject.com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943600"/>
            <a:ext cx="104241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AE5B"/>
                </a:solidFill>
                <a:latin typeface="Aptos"/>
              </a:rPr>
              <a:t>Research note: CropCircle is a proposal; the pilot must validate its benefits.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658368"/>
            <a:ext cx="10881360" cy="5440680"/>
          </a:xfrm>
          <a:prstGeom prst="roundRect">
            <a:avLst>
              <a:gd name="adj" fmla="val 12000"/>
            </a:avLst>
          </a:prstGeom>
          <a:solidFill>
            <a:srgbClr val="152A25"/>
          </a:solidFill>
          <a:ln>
            <a:solidFill>
              <a:srgbClr val="42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005840"/>
            <a:ext cx="9966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DD677"/>
                </a:solidFill>
                <a:latin typeface="Aptos"/>
              </a:rPr>
              <a:t>CROPCIRCLE  •  SIH 26033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99669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8F5E7"/>
                </a:solidFill>
                <a:latin typeface="Aptos"/>
              </a:rPr>
              <a:t>Sell first. Ship smart.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834640"/>
            <a:ext cx="8321040" cy="10515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B7CABE"/>
                </a:solidFill>
                <a:latin typeface="Aptos"/>
              </a:rPr>
              <a:t>We want farmers to know their options before spending money to move their crops. CropCircle turns scattered demand into a clearer selling and delivery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9966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AE5B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166360"/>
            <a:ext cx="9966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8F5E7"/>
                </a:solidFill>
                <a:latin typeface="Aptos"/>
              </a:rPr>
              <a:t>Questions &amp;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6327648"/>
            <a:ext cx="54864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7CABE"/>
                </a:solidFill>
                <a:latin typeface="Aptos"/>
              </a:rPr>
              <a:t>Smart India Hackathon Workshop Proposal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