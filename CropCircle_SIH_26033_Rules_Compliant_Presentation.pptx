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502920"/>
            <a:ext cx="1828800" cy="1828800"/>
          </a:xfrm>
          <a:prstGeom prst="ellipse">
            <a:avLst/>
          </a:prstGeom>
          <a:solidFill>
            <a:srgbClr val="1E4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87000" y="1280160"/>
            <a:ext cx="1051560" cy="1051560"/>
          </a:xfrm>
          <a:prstGeom prst="ellipse">
            <a:avLst/>
          </a:prstGeom>
          <a:solidFill>
            <a:srgbClr val="6AD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23960" y="1828800"/>
            <a:ext cx="685800" cy="685800"/>
          </a:xfrm>
          <a:prstGeom prst="ellipse">
            <a:avLst/>
          </a:prstGeom>
          <a:solidFill>
            <a:srgbClr val="F5C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0" y="2743200"/>
            <a:ext cx="502920" cy="502920"/>
          </a:xfrm>
          <a:prstGeom prst="ellipse">
            <a:avLst/>
          </a:prstGeom>
          <a:solidFill>
            <a:srgbClr val="EE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71323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200" b="1">
                <a:solidFill>
                  <a:srgbClr val="6ADB9A"/>
                </a:solidFill>
                <a:latin typeface="Aptos"/>
              </a:defRPr>
            </a:pPr>
            <a:r>
              <a:t>SMART INDIA HACKATHON • SIH 26033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7680960" cy="9601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4200" b="1">
                <a:solidFill>
                  <a:srgbClr val="F6F9F6"/>
                </a:solidFill>
                <a:latin typeface="Aptos Display"/>
              </a:defRPr>
            </a:pPr>
            <a:r>
              <a:t>CropCircle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95728"/>
            <a:ext cx="73152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400" b="1">
                <a:solidFill>
                  <a:srgbClr val="BEF2D2"/>
                </a:solidFill>
                <a:latin typeface="Aptos"/>
              </a:defRPr>
            </a:pPr>
            <a:r>
              <a:t>Sell First. Ship Smart.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063240"/>
            <a:ext cx="694944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0">
                <a:solidFill>
                  <a:srgbClr val="B8CAC0"/>
                </a:solidFill>
                <a:latin typeface="Aptos"/>
              </a:defRPr>
            </a:pPr>
            <a:r>
              <a:t>A demand-first marketplace concept to help farmers compare real earnings and coordinate small deliveries.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251960"/>
            <a:ext cx="6629400" cy="960120"/>
          </a:xfrm>
          <a:prstGeom prst="roundRect">
            <a:avLst/>
          </a:prstGeom>
          <a:solidFill>
            <a:srgbClr val="17362E"/>
          </a:solidFill>
          <a:ln>
            <a:solidFill>
              <a:srgbClr val="17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425696"/>
            <a:ext cx="621792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1500" b="1">
                <a:solidFill>
                  <a:srgbClr val="F6F9F6"/>
                </a:solidFill>
                <a:latin typeface="Aptos"/>
              </a:defRPr>
            </a:pPr>
            <a:r>
              <a:t>Problem: intermediaries can reduce farmer earnings and increase consumer prices.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6172200"/>
            <a:ext cx="70408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0">
                <a:solidFill>
                  <a:srgbClr val="B8CAC0"/>
                </a:solidFill>
                <a:latin typeface="Aptos"/>
              </a:defRPr>
            </a:pPr>
            <a:r>
              <a:t>Concept proposal • Validate locally before claiming impact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7899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6ADB9A"/>
                </a:solidFill>
                <a:latin typeface="Aptos"/>
              </a:defRPr>
            </a:pPr>
            <a:r>
              <a:t>01 •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F6F9F6"/>
                </a:solidFill>
                <a:latin typeface="Aptos"/>
              </a:defRPr>
            </a:pPr>
            <a:r>
              <a:t>The problem we want to solve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685800" cy="50292"/>
          </a:xfrm>
          <a:prstGeom prst="rect">
            <a:avLst/>
          </a:prstGeom>
          <a:solidFill>
            <a:srgbClr val="6AD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0">
                <a:solidFill>
                  <a:srgbClr val="B8CAC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03520" cy="4206240"/>
          </a:xfrm>
          <a:prstGeom prst="roundRect">
            <a:avLst/>
          </a:prstGeom>
          <a:solidFill>
            <a:srgbClr val="17362E"/>
          </a:solidFill>
          <a:ln>
            <a:solidFill>
              <a:srgbClr val="17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000" b="1">
                <a:solidFill>
                  <a:srgbClr val="6ADB9A"/>
                </a:solidFill>
                <a:latin typeface="Aptos"/>
              </a:defRPr>
            </a:pPr>
            <a:r>
              <a:t>Today’s friction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22860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6ADB9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606040"/>
            <a:ext cx="4315968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0">
                <a:solidFill>
                  <a:srgbClr val="F6F9F6"/>
                </a:solidFill>
                <a:latin typeface="Aptos"/>
              </a:defRPr>
            </a:pPr>
            <a:r>
              <a:t>Farmers may have limited visibility into buyer demand and final selling options.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22860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6ADB9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429000"/>
            <a:ext cx="4315968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0">
                <a:solidFill>
                  <a:srgbClr val="F6F9F6"/>
                </a:solidFill>
                <a:latin typeface="Aptos"/>
              </a:defRPr>
            </a:pPr>
            <a:r>
              <a:t>Small loads can be expensive to transport individually.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22860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6ADB9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4251960"/>
            <a:ext cx="4315968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0">
                <a:solidFill>
                  <a:srgbClr val="F6F9F6"/>
                </a:solidFill>
                <a:latin typeface="Aptos"/>
              </a:defRPr>
            </a:pPr>
            <a:r>
              <a:t>Buyers may struggle to find consistent quantity, timing and quality.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74920"/>
            <a:ext cx="22860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6ADB9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5074920"/>
            <a:ext cx="4315968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0">
                <a:solidFill>
                  <a:srgbClr val="F6F9F6"/>
                </a:solidFill>
                <a:latin typeface="Aptos"/>
              </a:defRPr>
            </a:pPr>
            <a:r>
              <a:t>Perishable produce loses value when matching and delivery take too long.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691640"/>
            <a:ext cx="5257800" cy="4206240"/>
          </a:xfrm>
          <a:prstGeom prst="roundRect">
            <a:avLst/>
          </a:prstGeom>
          <a:solidFill>
            <a:srgbClr val="1E4439"/>
          </a:solidFill>
          <a:ln>
            <a:solidFill>
              <a:srgbClr val="1E4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965960"/>
            <a:ext cx="46634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000" b="1">
                <a:solidFill>
                  <a:srgbClr val="F5C45E"/>
                </a:solidFill>
                <a:latin typeface="Aptos"/>
              </a:defRPr>
            </a:pPr>
            <a:r>
              <a:t>Design 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697480"/>
            <a:ext cx="448056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300" b="1">
                <a:solidFill>
                  <a:srgbClr val="F6F9F6"/>
                </a:solidFill>
                <a:latin typeface="Aptos"/>
              </a:defRPr>
            </a:pPr>
            <a:r>
              <a:t>Can we match demand before a farmer sends produce to market?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069080"/>
            <a:ext cx="4480560" cy="10515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0">
                <a:solidFill>
                  <a:srgbClr val="BEF2D2"/>
                </a:solidFill>
                <a:latin typeface="Aptos"/>
              </a:defRPr>
            </a:pPr>
            <a:r>
              <a:t>Goal: make choices and costs more visible—not promise to remove every intermediary.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7899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6ADB9A"/>
                </a:solidFill>
                <a:latin typeface="Aptos"/>
              </a:defRPr>
            </a:pPr>
            <a:r>
              <a:t>02 • SOLUTION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F6F9F6"/>
                </a:solidFill>
                <a:latin typeface="Aptos"/>
              </a:defRPr>
            </a:pPr>
            <a:r>
              <a:t>Our distinctive idea: decide before dispatch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685800" cy="50292"/>
          </a:xfrm>
          <a:prstGeom prst="rect">
            <a:avLst/>
          </a:prstGeom>
          <a:solidFill>
            <a:srgbClr val="6AD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0">
                <a:solidFill>
                  <a:srgbClr val="B8CAC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89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0">
                <a:solidFill>
                  <a:srgbClr val="B8CAC0"/>
                </a:solidFill>
                <a:latin typeface="Aptos"/>
              </a:defRPr>
            </a:pPr>
            <a:r>
              <a:t>Instead of only listing produce, CropCircle helps farmers see demand, compare net earnings, and coordinate compatible deliveries.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5212080" cy="1234440"/>
          </a:xfrm>
          <a:prstGeom prst="roundRect">
            <a:avLst/>
          </a:prstGeom>
          <a:solidFill>
            <a:srgbClr val="17362E"/>
          </a:solidFill>
          <a:ln>
            <a:solidFill>
              <a:srgbClr val="17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486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6ADB9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68879"/>
            <a:ext cx="40233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F6F9F6"/>
                </a:solidFill>
                <a:latin typeface="Aptos"/>
              </a:defRPr>
            </a:pPr>
            <a:r>
              <a:t>Demand Bell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862072"/>
            <a:ext cx="406908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200" b="0">
                <a:solidFill>
                  <a:srgbClr val="B8CAC0"/>
                </a:solidFill>
                <a:latin typeface="Aptos"/>
              </a:defRPr>
            </a:pPr>
            <a:r>
              <a:t>Buyers post crop, quantity, target price and delivery deadline.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331720"/>
            <a:ext cx="5212080" cy="1234440"/>
          </a:xfrm>
          <a:prstGeom prst="roundRect">
            <a:avLst/>
          </a:prstGeom>
          <a:solidFill>
            <a:srgbClr val="1E4439"/>
          </a:solidFill>
          <a:ln>
            <a:solidFill>
              <a:srgbClr val="1E4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487168"/>
            <a:ext cx="5486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6ADB9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468879"/>
            <a:ext cx="40233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F6F9F6"/>
                </a:solidFill>
                <a:latin typeface="Aptos"/>
              </a:defRPr>
            </a:pPr>
            <a:r>
              <a:t>Real-Earnings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862072"/>
            <a:ext cx="406908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200" b="0">
                <a:solidFill>
                  <a:srgbClr val="B8CAC0"/>
                </a:solidFill>
                <a:latin typeface="Aptos"/>
              </a:defRPr>
            </a:pPr>
            <a:r>
              <a:t>Compare offers after estimated packaging and transport costs.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931920"/>
            <a:ext cx="5212080" cy="1234440"/>
          </a:xfrm>
          <a:prstGeom prst="roundRect">
            <a:avLst/>
          </a:prstGeom>
          <a:solidFill>
            <a:srgbClr val="17362E"/>
          </a:solidFill>
          <a:ln>
            <a:solidFill>
              <a:srgbClr val="17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87368"/>
            <a:ext cx="5486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6ADB9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069080"/>
            <a:ext cx="40233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F6F9F6"/>
                </a:solidFill>
                <a:latin typeface="Aptos"/>
              </a:defRPr>
            </a:pPr>
            <a:r>
              <a:t>Shared Basket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462272"/>
            <a:ext cx="406908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200" b="0">
                <a:solidFill>
                  <a:srgbClr val="B8CAC0"/>
                </a:solidFill>
                <a:latin typeface="Aptos"/>
              </a:defRPr>
            </a:pPr>
            <a:r>
              <a:t>Combine compatible orders from nearby farmers when timing and crop match.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931920"/>
            <a:ext cx="5212080" cy="1234440"/>
          </a:xfrm>
          <a:prstGeom prst="roundRect">
            <a:avLst/>
          </a:prstGeom>
          <a:solidFill>
            <a:srgbClr val="1E4439"/>
          </a:solidFill>
          <a:ln>
            <a:solidFill>
              <a:srgbClr val="1E4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087368"/>
            <a:ext cx="5486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6ADB9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4069080"/>
            <a:ext cx="40233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F6F9F6"/>
                </a:solidFill>
                <a:latin typeface="Aptos"/>
              </a:defRPr>
            </a:pPr>
            <a:r>
              <a:t>Freshness Priority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462272"/>
            <a:ext cx="406908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200" b="0">
                <a:solidFill>
                  <a:srgbClr val="B8CAC0"/>
                </a:solidFill>
                <a:latin typeface="Aptos"/>
              </a:defRPr>
            </a:pPr>
            <a:r>
              <a:t>Give urgent, perishable orders priority using harvest time and delivery deadline.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7899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6ADB9A"/>
                </a:solidFill>
                <a:latin typeface="Aptos"/>
              </a:defRPr>
            </a:pPr>
            <a:r>
              <a:t>03 • REQUIRED TECHNICAL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F6F9F6"/>
                </a:solidFill>
                <a:latin typeface="Aptos"/>
              </a:defRPr>
            </a:pPr>
            <a:r>
              <a:t>Technical approach: from demand to delivery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685800" cy="50292"/>
          </a:xfrm>
          <a:prstGeom prst="rect">
            <a:avLst/>
          </a:prstGeom>
          <a:solidFill>
            <a:srgbClr val="6AD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0">
                <a:solidFill>
                  <a:srgbClr val="B8CAC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2148840" cy="960120"/>
          </a:xfrm>
          <a:prstGeom prst="roundRect">
            <a:avLst/>
          </a:prstGeom>
          <a:solidFill>
            <a:srgbClr val="1E4439"/>
          </a:solidFill>
          <a:ln w="19050">
            <a:solidFill>
              <a:srgbClr val="6AD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400" b="1">
                <a:solidFill>
                  <a:srgbClr val="F6F9F6"/>
                </a:solidFill>
                <a:latin typeface="Aptos Display"/>
              </a:defRPr>
            </a:pPr>
            <a:r>
              <a:t>Farmer input</a:t>
            </a:r>
          </a:p>
          <a:p>
            <a:pPr algn="ctr">
              <a:defRPr sz="900">
                <a:solidFill>
                  <a:srgbClr val="B8CAC0"/>
                </a:solidFill>
                <a:latin typeface="Aptos"/>
              </a:defRPr>
            </a:pPr>
            <a:r>
              <a:t>Crop • quantity • harvest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46120"/>
            <a:ext cx="2148840" cy="960120"/>
          </a:xfrm>
          <a:prstGeom prst="roundRect">
            <a:avLst/>
          </a:prstGeom>
          <a:solidFill>
            <a:srgbClr val="1E4439"/>
          </a:solidFill>
          <a:ln w="19050">
            <a:solidFill>
              <a:srgbClr val="6AD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400" b="1">
                <a:solidFill>
                  <a:srgbClr val="F6F9F6"/>
                </a:solidFill>
                <a:latin typeface="Aptos Display"/>
              </a:defRPr>
            </a:pPr>
            <a:r>
              <a:t>Buyer demand</a:t>
            </a:r>
          </a:p>
          <a:p>
            <a:pPr algn="ctr">
              <a:defRPr sz="900">
                <a:solidFill>
                  <a:srgbClr val="B8CAC0"/>
                </a:solidFill>
                <a:latin typeface="Aptos"/>
              </a:defRPr>
            </a:pPr>
            <a:r>
              <a:t>Need • price • deadline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423160"/>
            <a:ext cx="2331720" cy="1097280"/>
          </a:xfrm>
          <a:prstGeom prst="roundRect">
            <a:avLst/>
          </a:prstGeom>
          <a:solidFill>
            <a:srgbClr val="17362E"/>
          </a:solidFill>
          <a:ln w="19050">
            <a:solidFill>
              <a:srgbClr val="6AD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500" b="1">
                <a:solidFill>
                  <a:srgbClr val="F6F9F6"/>
                </a:solidFill>
                <a:latin typeface="Aptos Display"/>
              </a:defRPr>
            </a:pPr>
            <a:r>
              <a:t>Matching engine</a:t>
            </a:r>
          </a:p>
          <a:p>
            <a:pPr algn="ctr">
              <a:defRPr sz="900">
                <a:solidFill>
                  <a:srgbClr val="B8CAC0"/>
                </a:solidFill>
                <a:latin typeface="Aptos"/>
              </a:defRPr>
            </a:pPr>
            <a:r>
              <a:t>Crop + quantity + timing + location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51760" y="2267712"/>
            <a:ext cx="685800" cy="429768"/>
          </a:xfrm>
          <a:prstGeom prst="line">
            <a:avLst/>
          </a:prstGeom>
          <a:ln w="25400">
            <a:solidFill>
              <a:srgbClr val="6AD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651760" y="3246120"/>
            <a:ext cx="685800" cy="457200"/>
          </a:xfrm>
          <a:prstGeom prst="line">
            <a:avLst/>
          </a:prstGeom>
          <a:ln w="25400">
            <a:solidFill>
              <a:srgbClr val="6AD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0" y="1691640"/>
            <a:ext cx="2148840" cy="1051560"/>
          </a:xfrm>
          <a:prstGeom prst="roundRect">
            <a:avLst/>
          </a:prstGeom>
          <a:solidFill>
            <a:srgbClr val="1E4439"/>
          </a:solidFill>
          <a:ln w="19050">
            <a:solidFill>
              <a:srgbClr val="6AD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300" b="1">
                <a:solidFill>
                  <a:srgbClr val="F6F9F6"/>
                </a:solidFill>
                <a:latin typeface="Aptos Display"/>
              </a:defRPr>
            </a:pPr>
            <a:r>
              <a:t>Net-earnings check</a:t>
            </a:r>
          </a:p>
          <a:p>
            <a:pPr algn="ctr">
              <a:defRPr sz="900">
                <a:solidFill>
                  <a:srgbClr val="B8CAC0"/>
                </a:solidFill>
                <a:latin typeface="Aptos"/>
              </a:defRPr>
            </a:pPr>
            <a:r>
              <a:t>Offer − estimated costs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063240"/>
            <a:ext cx="2148840" cy="1051560"/>
          </a:xfrm>
          <a:prstGeom prst="roundRect">
            <a:avLst/>
          </a:prstGeom>
          <a:solidFill>
            <a:srgbClr val="1E4439"/>
          </a:solidFill>
          <a:ln w="19050">
            <a:solidFill>
              <a:srgbClr val="6AD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200" b="1">
                <a:solidFill>
                  <a:srgbClr val="F6F9F6"/>
                </a:solidFill>
                <a:latin typeface="Aptos Display"/>
              </a:defRPr>
            </a:pPr>
            <a:r>
              <a:t>Shared-delivery planner</a:t>
            </a:r>
          </a:p>
          <a:p>
            <a:pPr algn="ctr">
              <a:defRPr sz="900">
                <a:solidFill>
                  <a:srgbClr val="B8CAC0"/>
                </a:solidFill>
                <a:latin typeface="Aptos"/>
              </a:defRPr>
            </a:pPr>
            <a:r>
              <a:t>Group loads; estimate route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5669280" y="2240280"/>
            <a:ext cx="731520" cy="502920"/>
          </a:xfrm>
          <a:prstGeom prst="line">
            <a:avLst/>
          </a:prstGeom>
          <a:ln w="25400">
            <a:solidFill>
              <a:srgbClr val="6AD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669280" y="3154680"/>
            <a:ext cx="731520" cy="411480"/>
          </a:xfrm>
          <a:prstGeom prst="line">
            <a:avLst/>
          </a:prstGeom>
          <a:ln w="25400">
            <a:solidFill>
              <a:srgbClr val="6AD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281160" y="2331720"/>
            <a:ext cx="2240280" cy="1143000"/>
          </a:xfrm>
          <a:prstGeom prst="roundRect">
            <a:avLst/>
          </a:prstGeom>
          <a:solidFill>
            <a:srgbClr val="17362E"/>
          </a:solidFill>
          <a:ln w="19050">
            <a:solidFill>
              <a:srgbClr val="6AD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400" b="1">
                <a:solidFill>
                  <a:srgbClr val="F6F9F6"/>
                </a:solidFill>
                <a:latin typeface="Aptos Display"/>
              </a:defRPr>
            </a:pPr>
            <a:r>
              <a:t>Confirm &amp; track</a:t>
            </a:r>
          </a:p>
          <a:p>
            <a:pPr algn="ctr">
              <a:defRPr sz="900">
                <a:solidFill>
                  <a:srgbClr val="B8CAC0"/>
                </a:solidFill>
                <a:latin typeface="Aptos"/>
              </a:defRPr>
            </a:pPr>
            <a:r>
              <a:t>Farmer + buyer approve; update order status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49640" y="2240280"/>
            <a:ext cx="731520" cy="457200"/>
          </a:xfrm>
          <a:prstGeom prst="line">
            <a:avLst/>
          </a:prstGeom>
          <a:ln w="25400">
            <a:solidFill>
              <a:srgbClr val="6AD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549640" y="3154680"/>
            <a:ext cx="731520" cy="411480"/>
          </a:xfrm>
          <a:prstGeom prst="line">
            <a:avLst/>
          </a:prstGeom>
          <a:ln w="25400">
            <a:solidFill>
              <a:srgbClr val="6AD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383280" y="4800600"/>
            <a:ext cx="8046720" cy="822960"/>
          </a:xfrm>
          <a:prstGeom prst="roundRect">
            <a:avLst/>
          </a:prstGeom>
          <a:solidFill>
            <a:srgbClr val="17362E"/>
          </a:solidFill>
          <a:ln>
            <a:solidFill>
              <a:srgbClr val="17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1880" y="4956048"/>
            <a:ext cx="754380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defRPr sz="1400" b="1">
                <a:solidFill>
                  <a:srgbClr val="BEF2D2"/>
                </a:solidFill>
                <a:latin typeface="Aptos"/>
              </a:defRPr>
            </a:pPr>
            <a:r>
              <a:t>Data layer: users • crop listings • buyer requests • costs • delivery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200" b="0">
                <a:solidFill>
                  <a:srgbClr val="B8CAC0"/>
                </a:solidFill>
                <a:latin typeface="Aptos"/>
              </a:defRPr>
            </a:pPr>
            <a:r>
              <a:t>Phase 1: transparent rule-based matching. Phase 2: add demand forecasting and route optimization after collecting reliable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7899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6ADB9A"/>
                </a:solidFill>
                <a:latin typeface="Aptos"/>
              </a:defRPr>
            </a:pPr>
            <a:r>
              <a:t>04 • HOW IT COULD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F6F9F6"/>
                </a:solidFill>
                <a:latin typeface="Aptos"/>
              </a:defRPr>
            </a:pPr>
            <a:r>
              <a:t>Illustrative example—not a tested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685800" cy="50292"/>
          </a:xfrm>
          <a:prstGeom prst="rect">
            <a:avLst/>
          </a:prstGeom>
          <a:solidFill>
            <a:srgbClr val="6AD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0">
                <a:solidFill>
                  <a:srgbClr val="B8CAC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6ADB9A"/>
                </a:solidFill>
                <a:latin typeface="Aptos"/>
              </a:defRPr>
            </a:pPr>
            <a:r>
              <a:t>Example scenario for a prototype walkthrough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3246120" cy="2148840"/>
          </a:xfrm>
          <a:prstGeom prst="roundRect">
            <a:avLst/>
          </a:prstGeom>
          <a:solidFill>
            <a:srgbClr val="17362E"/>
          </a:solidFill>
          <a:ln>
            <a:solidFill>
              <a:srgbClr val="17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28346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6ADB9A"/>
                </a:solidFill>
                <a:latin typeface="Aptos"/>
              </a:defRPr>
            </a:pPr>
            <a:r>
              <a:t>Supply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283464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0">
                <a:solidFill>
                  <a:srgbClr val="F6F9F6"/>
                </a:solidFill>
                <a:latin typeface="Aptos"/>
              </a:defRPr>
            </a:pPr>
            <a:r>
              <a:t>Farmer A: 20 kg tomatoes</a:t>
            </a:r>
            <a:br/>
            <a:r>
              <a:t>Farmer B: 20 kg tomatoes</a:t>
            </a:r>
            <a:br/>
            <a:r>
              <a:t>Farmer C: 20 kg tomatoes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286000"/>
            <a:ext cx="3246120" cy="2148840"/>
          </a:xfrm>
          <a:prstGeom prst="roundRect">
            <a:avLst/>
          </a:prstGeom>
          <a:solidFill>
            <a:srgbClr val="1E4439"/>
          </a:solidFill>
          <a:ln>
            <a:solidFill>
              <a:srgbClr val="1E4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514600"/>
            <a:ext cx="28346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6ADB9A"/>
                </a:solidFill>
                <a:latin typeface="Aptos"/>
              </a:defRPr>
            </a:pPr>
            <a:r>
              <a:t>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063240"/>
            <a:ext cx="283464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0">
                <a:solidFill>
                  <a:srgbClr val="F6F9F6"/>
                </a:solidFill>
                <a:latin typeface="Aptos"/>
              </a:defRPr>
            </a:pPr>
            <a:r>
              <a:t>Buyer requests 50 kg</a:t>
            </a:r>
            <a:br/>
            <a:r>
              <a:t>Delivery by 5 PM</a:t>
            </a:r>
            <a:br/>
            <a:r>
              <a:t>Target price entered by buyer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286000"/>
            <a:ext cx="3246120" cy="2148840"/>
          </a:xfrm>
          <a:prstGeom prst="roundRect">
            <a:avLst/>
          </a:prstGeom>
          <a:solidFill>
            <a:srgbClr val="17362E"/>
          </a:solidFill>
          <a:ln>
            <a:solidFill>
              <a:srgbClr val="17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2514600"/>
            <a:ext cx="28346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6ADB9A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3063240"/>
            <a:ext cx="283464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0">
                <a:solidFill>
                  <a:srgbClr val="F6F9F6"/>
                </a:solidFill>
                <a:latin typeface="Aptos"/>
              </a:defRPr>
            </a:pPr>
            <a:r>
              <a:t>Match 50 kg to buyer</a:t>
            </a:r>
            <a:br/>
            <a:r>
              <a:t>Keep 10 kg available for another match</a:t>
            </a:r>
            <a:br/>
            <a:r>
              <a:t>Check whether shared transport is feasible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77639" y="3337560"/>
            <a:ext cx="365761" cy="0"/>
          </a:xfrm>
          <a:prstGeom prst="line">
            <a:avLst/>
          </a:prstGeom>
          <a:ln w="25400">
            <a:solidFill>
              <a:srgbClr val="F5C4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89520" y="3337560"/>
            <a:ext cx="365759" cy="0"/>
          </a:xfrm>
          <a:prstGeom prst="line">
            <a:avLst/>
          </a:prstGeom>
          <a:ln w="25400">
            <a:solidFill>
              <a:srgbClr val="F5C4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4400" y="4892040"/>
            <a:ext cx="10287000" cy="731520"/>
          </a:xfrm>
          <a:prstGeom prst="roundRect">
            <a:avLst/>
          </a:prstGeom>
          <a:solidFill>
            <a:srgbClr val="17362E"/>
          </a:solidFill>
          <a:ln>
            <a:solidFill>
              <a:srgbClr val="17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5047488"/>
            <a:ext cx="9829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400" b="1">
                <a:solidFill>
                  <a:srgbClr val="BEF2D2"/>
                </a:solidFill>
                <a:latin typeface="Aptos"/>
              </a:defRPr>
            </a:pPr>
            <a:r>
              <a:t>The prototype should show why it matched an order, estimated costs, and what still needs farmer confirmation.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989320"/>
            <a:ext cx="10424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0">
                <a:solidFill>
                  <a:srgbClr val="B8CAC0"/>
                </a:solidFill>
                <a:latin typeface="Aptos"/>
              </a:defRPr>
            </a:pPr>
            <a:r>
              <a:t>All quantities and deadlines above are illustrative; no field trial or impact result is being claimed.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7899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6ADB9A"/>
                </a:solidFill>
                <a:latin typeface="Aptos"/>
              </a:defRPr>
            </a:pPr>
            <a:r>
              <a:t>05 •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F6F9F6"/>
                </a:solidFill>
                <a:latin typeface="Aptos"/>
              </a:defRPr>
            </a:pPr>
            <a:r>
              <a:t>Buildable technical plan for a student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685800" cy="50292"/>
          </a:xfrm>
          <a:prstGeom prst="rect">
            <a:avLst/>
          </a:prstGeom>
          <a:solidFill>
            <a:srgbClr val="6AD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0">
                <a:solidFill>
                  <a:srgbClr val="B8CAC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91640"/>
            <a:ext cx="2514600" cy="566928"/>
          </a:xfrm>
          <a:prstGeom prst="roundRect">
            <a:avLst/>
          </a:prstGeom>
          <a:solidFill>
            <a:srgbClr val="1E4439"/>
          </a:solidFill>
          <a:ln>
            <a:solidFill>
              <a:srgbClr val="1E4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01368"/>
            <a:ext cx="228600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1100" b="1">
                <a:solidFill>
                  <a:srgbClr val="6ADB9A"/>
                </a:solidFill>
                <a:latin typeface="Aptos"/>
              </a:defRPr>
            </a:pPr>
            <a:r>
              <a:t>USER 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691640"/>
            <a:ext cx="7452360" cy="566928"/>
          </a:xfrm>
          <a:prstGeom prst="roundRect">
            <a:avLst/>
          </a:prstGeom>
          <a:solidFill>
            <a:srgbClr val="17362E"/>
          </a:solidFill>
          <a:ln>
            <a:solidFill>
              <a:srgbClr val="17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6200" y="1801368"/>
            <a:ext cx="699516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1300" b="0">
                <a:solidFill>
                  <a:srgbClr val="F6F9F6"/>
                </a:solidFill>
                <a:latin typeface="Aptos"/>
              </a:defRPr>
            </a:pPr>
            <a:r>
              <a:t>Responsive HTML • CSS • JavaScript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29000" y="1975104"/>
            <a:ext cx="228600" cy="0"/>
          </a:xfrm>
          <a:prstGeom prst="line">
            <a:avLst/>
          </a:prstGeom>
          <a:ln w="15240">
            <a:solidFill>
              <a:srgbClr val="6AD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" y="2496312"/>
            <a:ext cx="2514600" cy="566928"/>
          </a:xfrm>
          <a:prstGeom prst="roundRect">
            <a:avLst/>
          </a:prstGeom>
          <a:solidFill>
            <a:srgbClr val="1E4439"/>
          </a:solidFill>
          <a:ln>
            <a:solidFill>
              <a:srgbClr val="1E4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606040"/>
            <a:ext cx="228600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1100" b="1">
                <a:solidFill>
                  <a:srgbClr val="6ADB9A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2496312"/>
            <a:ext cx="7452360" cy="566928"/>
          </a:xfrm>
          <a:prstGeom prst="roundRect">
            <a:avLst/>
          </a:prstGeom>
          <a:solidFill>
            <a:srgbClr val="17362E"/>
          </a:solidFill>
          <a:ln>
            <a:solidFill>
              <a:srgbClr val="17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200" y="2606040"/>
            <a:ext cx="699516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1300" b="0">
                <a:solidFill>
                  <a:srgbClr val="F6F9F6"/>
                </a:solidFill>
                <a:latin typeface="Aptos"/>
              </a:defRPr>
            </a:pPr>
            <a:r>
              <a:t>Python + Django views and matching rules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29000" y="2779776"/>
            <a:ext cx="228600" cy="0"/>
          </a:xfrm>
          <a:prstGeom prst="line">
            <a:avLst/>
          </a:prstGeom>
          <a:ln w="15240">
            <a:solidFill>
              <a:srgbClr val="6AD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3300984"/>
            <a:ext cx="2514600" cy="566928"/>
          </a:xfrm>
          <a:prstGeom prst="roundRect">
            <a:avLst/>
          </a:prstGeom>
          <a:solidFill>
            <a:srgbClr val="1E4439"/>
          </a:solidFill>
          <a:ln>
            <a:solidFill>
              <a:srgbClr val="1E4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410712"/>
            <a:ext cx="228600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1100" b="1">
                <a:solidFill>
                  <a:srgbClr val="6ADB9A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3300984"/>
            <a:ext cx="7452360" cy="566928"/>
          </a:xfrm>
          <a:prstGeom prst="roundRect">
            <a:avLst/>
          </a:prstGeom>
          <a:solidFill>
            <a:srgbClr val="17362E"/>
          </a:solidFill>
          <a:ln>
            <a:solidFill>
              <a:srgbClr val="17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200" y="3410712"/>
            <a:ext cx="699516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1300" b="0">
                <a:solidFill>
                  <a:srgbClr val="F6F9F6"/>
                </a:solidFill>
                <a:latin typeface="Aptos"/>
              </a:defRPr>
            </a:pPr>
            <a:r>
              <a:t>SQLite for prototype: users, listings, requests, orders, costs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29000" y="3584448"/>
            <a:ext cx="228600" cy="0"/>
          </a:xfrm>
          <a:prstGeom prst="line">
            <a:avLst/>
          </a:prstGeom>
          <a:ln w="15240">
            <a:solidFill>
              <a:srgbClr val="6AD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4400" y="4105656"/>
            <a:ext cx="2514600" cy="566928"/>
          </a:xfrm>
          <a:prstGeom prst="roundRect">
            <a:avLst/>
          </a:prstGeom>
          <a:solidFill>
            <a:srgbClr val="1E4439"/>
          </a:solidFill>
          <a:ln>
            <a:solidFill>
              <a:srgbClr val="1E4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4215384"/>
            <a:ext cx="228600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1100" b="1">
                <a:solidFill>
                  <a:srgbClr val="6ADB9A"/>
                </a:solidFill>
                <a:latin typeface="Aptos"/>
              </a:defRPr>
            </a:pPr>
            <a:r>
              <a:t>MAP / ROUTE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05656"/>
            <a:ext cx="7452360" cy="566928"/>
          </a:xfrm>
          <a:prstGeom prst="roundRect">
            <a:avLst/>
          </a:prstGeom>
          <a:solidFill>
            <a:srgbClr val="17362E"/>
          </a:solidFill>
          <a:ln>
            <a:solidFill>
              <a:srgbClr val="17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86200" y="4215384"/>
            <a:ext cx="699516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1300" b="0">
                <a:solidFill>
                  <a:srgbClr val="F6F9F6"/>
                </a:solidFill>
                <a:latin typeface="Aptos"/>
              </a:defRPr>
            </a:pPr>
            <a:r>
              <a:t>OpenStreetMap for map display; start with distance estimates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429000" y="4389120"/>
            <a:ext cx="228600" cy="0"/>
          </a:xfrm>
          <a:prstGeom prst="line">
            <a:avLst/>
          </a:prstGeom>
          <a:ln w="15240">
            <a:solidFill>
              <a:srgbClr val="6AD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4400" y="4910328"/>
            <a:ext cx="2514600" cy="566928"/>
          </a:xfrm>
          <a:prstGeom prst="roundRect">
            <a:avLst/>
          </a:prstGeom>
          <a:solidFill>
            <a:srgbClr val="1E4439"/>
          </a:solidFill>
          <a:ln>
            <a:solidFill>
              <a:srgbClr val="1E4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5020056"/>
            <a:ext cx="228600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1100" b="1">
                <a:solidFill>
                  <a:srgbClr val="6ADB9A"/>
                </a:solidFill>
                <a:latin typeface="Aptos"/>
              </a:defRPr>
            </a:pPr>
            <a:r>
              <a:t>FUTURE INTELLIGENCE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0" y="4910328"/>
            <a:ext cx="7452360" cy="566928"/>
          </a:xfrm>
          <a:prstGeom prst="roundRect">
            <a:avLst/>
          </a:prstGeom>
          <a:solidFill>
            <a:srgbClr val="17362E"/>
          </a:solidFill>
          <a:ln>
            <a:solidFill>
              <a:srgbClr val="17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86200" y="5020056"/>
            <a:ext cx="699516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1300" b="0">
                <a:solidFill>
                  <a:srgbClr val="F6F9F6"/>
                </a:solidFill>
                <a:latin typeface="Aptos"/>
              </a:defRPr>
            </a:pPr>
            <a:r>
              <a:t>Demand forecast + route optimization after data collection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429000" y="5193792"/>
            <a:ext cx="228600" cy="0"/>
          </a:xfrm>
          <a:prstGeom prst="line">
            <a:avLst/>
          </a:prstGeom>
          <a:ln w="15240">
            <a:solidFill>
              <a:srgbClr val="6AD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14400" y="5897880"/>
            <a:ext cx="102412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F5C45E"/>
                </a:solidFill>
                <a:latin typeface="Aptos"/>
              </a:defRPr>
            </a:pPr>
            <a:r>
              <a:t>Start simple: prove matching and cost transparency before adding AI.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7899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6ADB9A"/>
                </a:solidFill>
                <a:latin typeface="Aptos"/>
              </a:defRPr>
            </a:pPr>
            <a:r>
              <a:t>06 • PROTOTYPE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F6F9F6"/>
                </a:solidFill>
                <a:latin typeface="Aptos"/>
              </a:defRPr>
            </a:pPr>
            <a:r>
              <a:t>Matching logic: clear rules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685800" cy="50292"/>
          </a:xfrm>
          <a:prstGeom prst="rect">
            <a:avLst/>
          </a:prstGeom>
          <a:solidFill>
            <a:srgbClr val="6AD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0">
                <a:solidFill>
                  <a:srgbClr val="B8CAC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74720" cy="1188720"/>
          </a:xfrm>
          <a:prstGeom prst="roundRect">
            <a:avLst/>
          </a:prstGeom>
          <a:solidFill>
            <a:srgbClr val="1E4439"/>
          </a:solidFill>
          <a:ln>
            <a:solidFill>
              <a:srgbClr val="1E4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75104"/>
            <a:ext cx="31089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6ADB9A"/>
                </a:solidFill>
                <a:latin typeface="Aptos"/>
              </a:defRPr>
            </a:pPr>
            <a:r>
              <a:t>1. Filter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77440"/>
            <a:ext cx="31089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200" b="0">
                <a:solidFill>
                  <a:srgbClr val="F6F9F6"/>
                </a:solidFill>
                <a:latin typeface="Aptos"/>
              </a:defRPr>
            </a:pPr>
            <a:r>
              <a:t>Same crop and acceptable quality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828800"/>
            <a:ext cx="3474720" cy="1188720"/>
          </a:xfrm>
          <a:prstGeom prst="roundRect">
            <a:avLst/>
          </a:prstGeom>
          <a:solidFill>
            <a:srgbClr val="1E4439"/>
          </a:solidFill>
          <a:ln>
            <a:solidFill>
              <a:srgbClr val="1E4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975104"/>
            <a:ext cx="31089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6ADB9A"/>
                </a:solidFill>
                <a:latin typeface="Aptos"/>
              </a:defRPr>
            </a:pPr>
            <a:r>
              <a:t>2. Check quantity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377440"/>
            <a:ext cx="31089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200" b="0">
                <a:solidFill>
                  <a:srgbClr val="F6F9F6"/>
                </a:solidFill>
                <a:latin typeface="Aptos"/>
              </a:defRPr>
            </a:pPr>
            <a:r>
              <a:t>Full match or split across multiple farmers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828800"/>
            <a:ext cx="3474720" cy="1188720"/>
          </a:xfrm>
          <a:prstGeom prst="roundRect">
            <a:avLst/>
          </a:prstGeom>
          <a:solidFill>
            <a:srgbClr val="1E4439"/>
          </a:solidFill>
          <a:ln>
            <a:solidFill>
              <a:srgbClr val="1E4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31352" y="1975104"/>
            <a:ext cx="31089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6ADB9A"/>
                </a:solidFill>
                <a:latin typeface="Aptos"/>
              </a:defRPr>
            </a:pPr>
            <a:r>
              <a:t>3. Check timing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1352" y="2377440"/>
            <a:ext cx="31089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200" b="0">
                <a:solidFill>
                  <a:srgbClr val="F6F9F6"/>
                </a:solidFill>
                <a:latin typeface="Aptos"/>
              </a:defRPr>
            </a:pPr>
            <a:r>
              <a:t>Harvest-ready and deadline compatible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429000"/>
            <a:ext cx="3474720" cy="1188720"/>
          </a:xfrm>
          <a:prstGeom prst="roundRect">
            <a:avLst/>
          </a:prstGeom>
          <a:solidFill>
            <a:srgbClr val="17362E"/>
          </a:solidFill>
          <a:ln>
            <a:solidFill>
              <a:srgbClr val="17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575304"/>
            <a:ext cx="31089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6ADB9A"/>
                </a:solidFill>
                <a:latin typeface="Aptos"/>
              </a:defRPr>
            </a:pPr>
            <a:r>
              <a:t>4. Estimate costs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977639"/>
            <a:ext cx="31089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200" b="0">
                <a:solidFill>
                  <a:srgbClr val="F6F9F6"/>
                </a:solidFill>
                <a:latin typeface="Aptos"/>
              </a:defRPr>
            </a:pPr>
            <a:r>
              <a:t>Packaging + transport + platform fees, if any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429000"/>
            <a:ext cx="3474720" cy="1188720"/>
          </a:xfrm>
          <a:prstGeom prst="roundRect">
            <a:avLst/>
          </a:prstGeom>
          <a:solidFill>
            <a:srgbClr val="17362E"/>
          </a:solidFill>
          <a:ln>
            <a:solidFill>
              <a:srgbClr val="17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90872" y="3575304"/>
            <a:ext cx="31089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6ADB9A"/>
                </a:solidFill>
                <a:latin typeface="Aptos"/>
              </a:defRPr>
            </a:pPr>
            <a:r>
              <a:t>5. Rank options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3977639"/>
            <a:ext cx="31089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200" b="0">
                <a:solidFill>
                  <a:srgbClr val="F6F9F6"/>
                </a:solidFill>
                <a:latin typeface="Aptos"/>
              </a:defRPr>
            </a:pPr>
            <a:r>
              <a:t>Show estimated net earnings and buyer fit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3429000"/>
            <a:ext cx="3474720" cy="1188720"/>
          </a:xfrm>
          <a:prstGeom prst="roundRect">
            <a:avLst/>
          </a:prstGeom>
          <a:solidFill>
            <a:srgbClr val="17362E"/>
          </a:solidFill>
          <a:ln>
            <a:solidFill>
              <a:srgbClr val="17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31352" y="3575304"/>
            <a:ext cx="31089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6ADB9A"/>
                </a:solidFill>
                <a:latin typeface="Aptos"/>
              </a:defRPr>
            </a:pPr>
            <a:r>
              <a:t>6. Ask for consent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31352" y="3977639"/>
            <a:ext cx="31089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200" b="0">
                <a:solidFill>
                  <a:srgbClr val="F6F9F6"/>
                </a:solidFill>
                <a:latin typeface="Aptos"/>
              </a:defRPr>
            </a:pPr>
            <a:r>
              <a:t>Farmer and buyer confirm before dispatch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440680"/>
            <a:ext cx="1042416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1">
                <a:solidFill>
                  <a:srgbClr val="F5C45E"/>
                </a:solidFill>
                <a:latin typeface="Aptos"/>
              </a:defRPr>
            </a:pPr>
            <a:r>
              <a:t>Important: display estimates and assumptions; do not present predicted prices or travel times as guaranteed.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7899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6ADB9A"/>
                </a:solidFill>
                <a:latin typeface="Aptos"/>
              </a:defRPr>
            </a:pPr>
            <a:r>
              <a:t>07 • RESPONSIBLE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F6F9F6"/>
                </a:solidFill>
                <a:latin typeface="Aptos"/>
              </a:defRPr>
            </a:pPr>
            <a:r>
              <a:t>Trust and risks are part of the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685800" cy="50292"/>
          </a:xfrm>
          <a:prstGeom prst="rect">
            <a:avLst/>
          </a:prstGeom>
          <a:solidFill>
            <a:srgbClr val="6AD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0">
                <a:solidFill>
                  <a:srgbClr val="B8CAC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257800" cy="987552"/>
          </a:xfrm>
          <a:prstGeom prst="roundRect">
            <a:avLst/>
          </a:prstGeom>
          <a:solidFill>
            <a:srgbClr val="17362E"/>
          </a:solidFill>
          <a:ln>
            <a:solidFill>
              <a:srgbClr val="17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810512"/>
            <a:ext cx="48006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6ADB9A"/>
                </a:solidFill>
                <a:latin typeface="Aptos"/>
              </a:defRPr>
            </a:pPr>
            <a:r>
              <a:t>Low digital confidence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48840"/>
            <a:ext cx="48006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100" b="0">
                <a:solidFill>
                  <a:srgbClr val="F6F9F6"/>
                </a:solidFill>
                <a:latin typeface="Aptos"/>
              </a:defRPr>
            </a:pPr>
            <a:r>
              <a:t>Use simple language, icons and assisted onboarding.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91640"/>
            <a:ext cx="5257800" cy="987552"/>
          </a:xfrm>
          <a:prstGeom prst="roundRect">
            <a:avLst/>
          </a:prstGeom>
          <a:solidFill>
            <a:srgbClr val="1E4439"/>
          </a:solidFill>
          <a:ln>
            <a:solidFill>
              <a:srgbClr val="1E4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810512"/>
            <a:ext cx="48006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6ADB9A"/>
                </a:solidFill>
                <a:latin typeface="Aptos"/>
              </a:defRPr>
            </a:pPr>
            <a:r>
              <a:t>Incorrect cost estimates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148840"/>
            <a:ext cx="48006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100" b="0">
                <a:solidFill>
                  <a:srgbClr val="F6F9F6"/>
                </a:solidFill>
                <a:latin typeface="Aptos"/>
              </a:defRPr>
            </a:pPr>
            <a:r>
              <a:t>Let users edit costs and label estimates clearly.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90088"/>
            <a:ext cx="5257800" cy="987552"/>
          </a:xfrm>
          <a:prstGeom prst="roundRect">
            <a:avLst/>
          </a:prstGeom>
          <a:solidFill>
            <a:srgbClr val="17362E"/>
          </a:solidFill>
          <a:ln>
            <a:solidFill>
              <a:srgbClr val="17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108960"/>
            <a:ext cx="48006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6ADB9A"/>
                </a:solidFill>
                <a:latin typeface="Aptos"/>
              </a:defRPr>
            </a:pPr>
            <a:r>
              <a:t>Cancellations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447288"/>
            <a:ext cx="48006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100" b="0">
                <a:solidFill>
                  <a:srgbClr val="F6F9F6"/>
                </a:solidFill>
                <a:latin typeface="Aptos"/>
              </a:defRPr>
            </a:pPr>
            <a:r>
              <a:t>Use confirmation steps and status updates.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990088"/>
            <a:ext cx="5257800" cy="987552"/>
          </a:xfrm>
          <a:prstGeom prst="roundRect">
            <a:avLst/>
          </a:prstGeom>
          <a:solidFill>
            <a:srgbClr val="1E4439"/>
          </a:solidFill>
          <a:ln>
            <a:solidFill>
              <a:srgbClr val="1E4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108960"/>
            <a:ext cx="48006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6ADB9A"/>
                </a:solidFill>
                <a:latin typeface="Aptos"/>
              </a:defRPr>
            </a:pPr>
            <a:r>
              <a:t>Produce spoilage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447288"/>
            <a:ext cx="48006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100" b="0">
                <a:solidFill>
                  <a:srgbClr val="F6F9F6"/>
                </a:solidFill>
                <a:latin typeface="Aptos"/>
              </a:defRPr>
            </a:pPr>
            <a:r>
              <a:t>Prioritize perishable orders and time windows.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88536"/>
            <a:ext cx="5257800" cy="987552"/>
          </a:xfrm>
          <a:prstGeom prst="roundRect">
            <a:avLst/>
          </a:prstGeom>
          <a:solidFill>
            <a:srgbClr val="17362E"/>
          </a:solidFill>
          <a:ln>
            <a:solidFill>
              <a:srgbClr val="17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407407"/>
            <a:ext cx="48006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6ADB9A"/>
                </a:solidFill>
                <a:latin typeface="Aptos"/>
              </a:defRPr>
            </a:pPr>
            <a:r>
              <a:t>Data privacy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4745736"/>
            <a:ext cx="48006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100" b="0">
                <a:solidFill>
                  <a:srgbClr val="F6F9F6"/>
                </a:solidFill>
                <a:latin typeface="Aptos"/>
              </a:defRPr>
            </a:pPr>
            <a:r>
              <a:t>Collect only needed data; restrict personal details.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288536"/>
            <a:ext cx="5257800" cy="987552"/>
          </a:xfrm>
          <a:prstGeom prst="roundRect">
            <a:avLst/>
          </a:prstGeom>
          <a:solidFill>
            <a:srgbClr val="1E4439"/>
          </a:solidFill>
          <a:ln>
            <a:solidFill>
              <a:srgbClr val="1E4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4407407"/>
            <a:ext cx="48006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6ADB9A"/>
                </a:solidFill>
                <a:latin typeface="Aptos"/>
              </a:defRPr>
            </a:pPr>
            <a:r>
              <a:t>Unequal 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4745736"/>
            <a:ext cx="48006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100" b="0">
                <a:solidFill>
                  <a:srgbClr val="F6F9F6"/>
                </a:solidFill>
                <a:latin typeface="Aptos"/>
              </a:defRPr>
            </a:pPr>
            <a:r>
              <a:t>Support FPO/coordinator-assisted listing as an option.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7899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6ADB9A"/>
                </a:solidFill>
                <a:latin typeface="Aptos"/>
              </a:defRPr>
            </a:pPr>
            <a:r>
              <a:t>08 • MEASUREMENT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F6F9F6"/>
                </a:solidFill>
                <a:latin typeface="Aptos"/>
              </a:defRPr>
            </a:pPr>
            <a:r>
              <a:t>How we would evaluate the prototype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685800" cy="50292"/>
          </a:xfrm>
          <a:prstGeom prst="rect">
            <a:avLst/>
          </a:prstGeom>
          <a:solidFill>
            <a:srgbClr val="6AD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0">
                <a:solidFill>
                  <a:srgbClr val="B8CAC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B8CAC0"/>
                </a:solidFill>
                <a:latin typeface="Aptos"/>
              </a:defRPr>
            </a:pPr>
            <a:r>
              <a:t>Track baseline and pilot results; do not assume the solution works until it is tested.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3474720" cy="1143000"/>
          </a:xfrm>
          <a:prstGeom prst="roundRect">
            <a:avLst/>
          </a:prstGeom>
          <a:solidFill>
            <a:srgbClr val="1E4439"/>
          </a:solidFill>
          <a:ln>
            <a:solidFill>
              <a:srgbClr val="1E4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487168"/>
            <a:ext cx="310896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6ADB9A"/>
                </a:solidFill>
                <a:latin typeface="Aptos"/>
              </a:defRPr>
            </a:pPr>
            <a:r>
              <a:t>Farmer net earnings/kg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862072"/>
            <a:ext cx="310896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100" b="0">
                <a:solidFill>
                  <a:srgbClr val="F6F9F6"/>
                </a:solidFill>
                <a:latin typeface="Aptos"/>
              </a:defRPr>
            </a:pPr>
            <a:r>
              <a:t>After estimated and actual selling costs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331720"/>
            <a:ext cx="3474720" cy="1143000"/>
          </a:xfrm>
          <a:prstGeom prst="roundRect">
            <a:avLst/>
          </a:prstGeom>
          <a:solidFill>
            <a:srgbClr val="17362E"/>
          </a:solidFill>
          <a:ln>
            <a:solidFill>
              <a:srgbClr val="17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2487168"/>
            <a:ext cx="310896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6ADB9A"/>
                </a:solidFill>
                <a:latin typeface="Aptos"/>
              </a:defRPr>
            </a:pPr>
            <a:r>
              <a:t>Transport cost/kg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862072"/>
            <a:ext cx="310896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100" b="0">
                <a:solidFill>
                  <a:srgbClr val="F6F9F6"/>
                </a:solidFill>
                <a:latin typeface="Aptos"/>
              </a:defRPr>
            </a:pPr>
            <a:r>
              <a:t>Before and after shared delivery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331720"/>
            <a:ext cx="3474720" cy="1143000"/>
          </a:xfrm>
          <a:prstGeom prst="roundRect">
            <a:avLst/>
          </a:prstGeom>
          <a:solidFill>
            <a:srgbClr val="17362E"/>
          </a:solidFill>
          <a:ln>
            <a:solidFill>
              <a:srgbClr val="17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31352" y="2487168"/>
            <a:ext cx="310896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6ADB9A"/>
                </a:solidFill>
                <a:latin typeface="Aptos"/>
              </a:defRPr>
            </a:pPr>
            <a:r>
              <a:t>Fulfilment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1352" y="2862072"/>
            <a:ext cx="310896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100" b="0">
                <a:solidFill>
                  <a:srgbClr val="F6F9F6"/>
                </a:solidFill>
                <a:latin typeface="Aptos"/>
              </a:defRPr>
            </a:pPr>
            <a:r>
              <a:t>Buyer requests successfully completed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840479"/>
            <a:ext cx="3474720" cy="1143000"/>
          </a:xfrm>
          <a:prstGeom prst="roundRect">
            <a:avLst/>
          </a:prstGeom>
          <a:solidFill>
            <a:srgbClr val="17362E"/>
          </a:solidFill>
          <a:ln>
            <a:solidFill>
              <a:srgbClr val="17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995927"/>
            <a:ext cx="310896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6ADB9A"/>
                </a:solidFill>
                <a:latin typeface="Aptos"/>
              </a:defRPr>
            </a:pPr>
            <a:r>
              <a:t>Unsold quantity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4370831"/>
            <a:ext cx="310896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100" b="0">
                <a:solidFill>
                  <a:srgbClr val="F6F9F6"/>
                </a:solidFill>
                <a:latin typeface="Aptos"/>
              </a:defRPr>
            </a:pPr>
            <a:r>
              <a:t>Produce left without a buyer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3840479"/>
            <a:ext cx="3474720" cy="1143000"/>
          </a:xfrm>
          <a:prstGeom prst="roundRect">
            <a:avLst/>
          </a:prstGeom>
          <a:solidFill>
            <a:srgbClr val="17362E"/>
          </a:solidFill>
          <a:ln>
            <a:solidFill>
              <a:srgbClr val="17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90872" y="3995927"/>
            <a:ext cx="310896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6ADB9A"/>
                </a:solidFill>
                <a:latin typeface="Aptos"/>
              </a:defRPr>
            </a:pPr>
            <a:r>
              <a:t>On-time 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0872" y="4370831"/>
            <a:ext cx="310896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100" b="0">
                <a:solidFill>
                  <a:srgbClr val="F6F9F6"/>
                </a:solidFill>
                <a:latin typeface="Aptos"/>
              </a:defRPr>
            </a:pPr>
            <a:r>
              <a:t>Orders arriving within agreed window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3840479"/>
            <a:ext cx="3474720" cy="1143000"/>
          </a:xfrm>
          <a:prstGeom prst="roundRect">
            <a:avLst/>
          </a:prstGeom>
          <a:solidFill>
            <a:srgbClr val="17362E"/>
          </a:solidFill>
          <a:ln>
            <a:solidFill>
              <a:srgbClr val="17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31352" y="3995927"/>
            <a:ext cx="310896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6ADB9A"/>
                </a:solidFill>
                <a:latin typeface="Aptos"/>
              </a:defRPr>
            </a:pPr>
            <a:r>
              <a:t>User effort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1352" y="4370831"/>
            <a:ext cx="310896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100" b="0">
                <a:solidFill>
                  <a:srgbClr val="F6F9F6"/>
                </a:solidFill>
                <a:latin typeface="Aptos"/>
              </a:defRPr>
            </a:pPr>
            <a:r>
              <a:t>Time needed to create and confirm an order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623560"/>
            <a:ext cx="104241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1">
                <a:solidFill>
                  <a:srgbClr val="F5C45E"/>
                </a:solidFill>
                <a:latin typeface="Aptos"/>
              </a:defRPr>
            </a:pPr>
            <a:r>
              <a:t>Pilot idea: one crop, one local area, a small number of farmers/FPOs and buyers.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7899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6ADB9A"/>
                </a:solidFill>
                <a:latin typeface="Aptos"/>
              </a:defRPr>
            </a:pPr>
            <a:r>
              <a:t>09 • ORIGINAL WORK &amp; PEER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F6F9F6"/>
                </a:solidFill>
                <a:latin typeface="Aptos"/>
              </a:defRPr>
            </a:pPr>
            <a:r>
              <a:t>How we will follow the workshop rules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685800" cy="50292"/>
          </a:xfrm>
          <a:prstGeom prst="rect">
            <a:avLst/>
          </a:prstGeom>
          <a:solidFill>
            <a:srgbClr val="6AD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0">
                <a:solidFill>
                  <a:srgbClr val="B8CAC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57800" cy="3611880"/>
          </a:xfrm>
          <a:prstGeom prst="roundRect">
            <a:avLst/>
          </a:prstGeom>
          <a:solidFill>
            <a:srgbClr val="17362E"/>
          </a:solidFill>
          <a:ln>
            <a:solidFill>
              <a:srgbClr val="17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66344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900" b="1">
                <a:solidFill>
                  <a:srgbClr val="6ADB9A"/>
                </a:solidFill>
                <a:latin typeface="Aptos"/>
              </a:defRPr>
            </a:pPr>
            <a:r>
              <a:t>Originality checklist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22860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6ADB9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2651760"/>
            <a:ext cx="4315968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200" b="0">
                <a:solidFill>
                  <a:srgbClr val="F6F9F6"/>
                </a:solidFill>
                <a:latin typeface="Aptos"/>
              </a:defRPr>
            </a:pPr>
            <a:r>
              <a:t>Write the final explanation in our own words.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54680"/>
            <a:ext cx="22860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6ADB9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3154680"/>
            <a:ext cx="4315968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200" b="0">
                <a:solidFill>
                  <a:srgbClr val="F6F9F6"/>
                </a:solidFill>
                <a:latin typeface="Aptos"/>
              </a:defRPr>
            </a:pPr>
            <a:r>
              <a:t>Build our own diagram and prototype screens.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22860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6ADB9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657600"/>
            <a:ext cx="4315968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200" b="0">
                <a:solidFill>
                  <a:srgbClr val="F6F9F6"/>
                </a:solidFill>
                <a:latin typeface="Aptos"/>
              </a:defRPr>
            </a:pPr>
            <a:r>
              <a:t>Use our own example data and label it illustrative.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22860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6ADB9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4160520"/>
            <a:ext cx="4315968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200" b="0">
                <a:solidFill>
                  <a:srgbClr val="F6F9F6"/>
                </a:solidFill>
                <a:latin typeface="Aptos"/>
              </a:defRPr>
            </a:pPr>
            <a:r>
              <a:t>Cite sources for facts, tools and background.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663440"/>
            <a:ext cx="22860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6ADB9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4663440"/>
            <a:ext cx="4315968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200" b="0">
                <a:solidFill>
                  <a:srgbClr val="F6F9F6"/>
                </a:solidFill>
                <a:latin typeface="Aptos"/>
              </a:defRPr>
            </a:pPr>
            <a:r>
              <a:t>Check with the mentor whether the concept overlaps with another team.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737360"/>
            <a:ext cx="5257800" cy="3611880"/>
          </a:xfrm>
          <a:prstGeom prst="roundRect">
            <a:avLst/>
          </a:prstGeom>
          <a:solidFill>
            <a:srgbClr val="1E4439"/>
          </a:solidFill>
          <a:ln>
            <a:solidFill>
              <a:srgbClr val="1E4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80"/>
            <a:ext cx="466344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F5C45E"/>
                </a:solidFill>
                <a:latin typeface="Aptos"/>
              </a:defRPr>
            </a:pPr>
            <a:r>
              <a:t>Peer evaluation: minimum 2 submissions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697480"/>
            <a:ext cx="45262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F6F9F6"/>
                </a:solidFill>
                <a:latin typeface="Aptos"/>
              </a:defRPr>
            </a:pPr>
            <a:r>
              <a:t>Submission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063240"/>
            <a:ext cx="45262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200" b="0">
                <a:solidFill>
                  <a:srgbClr val="B8CAC0"/>
                </a:solidFill>
                <a:latin typeface="Aptos"/>
              </a:defRPr>
            </a:pPr>
            <a:r>
              <a:t>Check: problem clarity, feasibility, uniqueness, evidence.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749039"/>
            <a:ext cx="45262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F6F9F6"/>
                </a:solidFill>
                <a:latin typeface="Aptos"/>
              </a:defRPr>
            </a:pPr>
            <a:r>
              <a:t>Submission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114800"/>
            <a:ext cx="452628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200" b="0">
                <a:solidFill>
                  <a:srgbClr val="B8CAC0"/>
                </a:solidFill>
                <a:latin typeface="Aptos"/>
              </a:defRPr>
            </a:pPr>
            <a:r>
              <a:t>Check: user benefit, technical diagram, risks and measurable outcomes.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715000"/>
            <a:ext cx="1033272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1">
                <a:solidFill>
                  <a:srgbClr val="BEF2D2"/>
                </a:solidFill>
                <a:latin typeface="Aptos"/>
              </a:defRPr>
            </a:pPr>
            <a:r>
              <a:t>Give specific, respectful feedback. Do not copy another learner’s idea or wording.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7899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6ADB9A"/>
                </a:solidFill>
                <a:latin typeface="Aptos"/>
              </a:defRPr>
            </a:pPr>
            <a:r>
              <a:t>10 •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F6F9F6"/>
                </a:solidFill>
                <a:latin typeface="Aptos"/>
              </a:defRPr>
            </a:pPr>
            <a:r>
              <a:t>A realistic build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685800" cy="50292"/>
          </a:xfrm>
          <a:prstGeom prst="rect">
            <a:avLst/>
          </a:prstGeom>
          <a:solidFill>
            <a:srgbClr val="6AD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0">
                <a:solidFill>
                  <a:srgbClr val="B8CAC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37360"/>
            <a:ext cx="1828800" cy="566928"/>
          </a:xfrm>
          <a:prstGeom prst="roundRect">
            <a:avLst/>
          </a:prstGeom>
          <a:solidFill>
            <a:srgbClr val="1E4439"/>
          </a:solidFill>
          <a:ln>
            <a:solidFill>
              <a:srgbClr val="1E4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47088"/>
            <a:ext cx="1600200" cy="3017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1200" b="1">
                <a:solidFill>
                  <a:srgbClr val="6ADB9A"/>
                </a:solidFill>
                <a:latin typeface="Aptos"/>
              </a:defRPr>
            </a:pPr>
            <a:r>
              <a:t>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10512"/>
            <a:ext cx="804672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1300" b="0">
                <a:solidFill>
                  <a:srgbClr val="F6F9F6"/>
                </a:solidFill>
                <a:latin typeface="Aptos"/>
              </a:defRPr>
            </a:pPr>
            <a:r>
              <a:t>Interview 3–5 farmers/buyers; confirm the biggest local friction.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578608"/>
            <a:ext cx="1828800" cy="566928"/>
          </a:xfrm>
          <a:prstGeom prst="roundRect">
            <a:avLst/>
          </a:prstGeom>
          <a:solidFill>
            <a:srgbClr val="1E4439"/>
          </a:solidFill>
          <a:ln>
            <a:solidFill>
              <a:srgbClr val="1E4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688336"/>
            <a:ext cx="1600200" cy="3017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1200" b="1">
                <a:solidFill>
                  <a:srgbClr val="6ADB9A"/>
                </a:solidFill>
                <a:latin typeface="Aptos"/>
              </a:defRPr>
            </a:pPr>
            <a:r>
              <a:t>WEEK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651760"/>
            <a:ext cx="804672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1300" b="0">
                <a:solidFill>
                  <a:srgbClr val="F6F9F6"/>
                </a:solidFill>
                <a:latin typeface="Aptos"/>
              </a:defRPr>
            </a:pPr>
            <a:r>
              <a:t>Create screens and a working rule-based match demo.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419856"/>
            <a:ext cx="1828800" cy="566928"/>
          </a:xfrm>
          <a:prstGeom prst="roundRect">
            <a:avLst/>
          </a:prstGeom>
          <a:solidFill>
            <a:srgbClr val="1E4439"/>
          </a:solidFill>
          <a:ln>
            <a:solidFill>
              <a:srgbClr val="1E4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529584"/>
            <a:ext cx="1600200" cy="3017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1200" b="1">
                <a:solidFill>
                  <a:srgbClr val="6ADB9A"/>
                </a:solidFill>
                <a:latin typeface="Aptos"/>
              </a:defRPr>
            </a:pPr>
            <a:r>
              <a:t>WEEK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493008"/>
            <a:ext cx="804672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1300" b="0">
                <a:solidFill>
                  <a:srgbClr val="F6F9F6"/>
                </a:solidFill>
                <a:latin typeface="Aptos"/>
              </a:defRPr>
            </a:pPr>
            <a:r>
              <a:t>Add net-earnings calculator and order confirmation flow.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261104"/>
            <a:ext cx="1828800" cy="566928"/>
          </a:xfrm>
          <a:prstGeom prst="roundRect">
            <a:avLst/>
          </a:prstGeom>
          <a:solidFill>
            <a:srgbClr val="1E4439"/>
          </a:solidFill>
          <a:ln>
            <a:solidFill>
              <a:srgbClr val="1E4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370832"/>
            <a:ext cx="1600200" cy="3017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1200" b="1">
                <a:solidFill>
                  <a:srgbClr val="6ADB9A"/>
                </a:solidFill>
                <a:latin typeface="Aptos"/>
              </a:defRPr>
            </a:pPr>
            <a:r>
              <a:t>WEEK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4334256"/>
            <a:ext cx="804672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1300" b="0">
                <a:solidFill>
                  <a:srgbClr val="F6F9F6"/>
                </a:solidFill>
                <a:latin typeface="Aptos"/>
              </a:defRPr>
            </a:pPr>
            <a:r>
              <a:t>Test sample cases; collect feedback; fix usability issues.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102352"/>
            <a:ext cx="1828800" cy="566928"/>
          </a:xfrm>
          <a:prstGeom prst="roundRect">
            <a:avLst/>
          </a:prstGeom>
          <a:solidFill>
            <a:srgbClr val="1E4439"/>
          </a:solidFill>
          <a:ln>
            <a:solidFill>
              <a:srgbClr val="1E4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5212080"/>
            <a:ext cx="1600200" cy="3017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1200" b="1">
                <a:solidFill>
                  <a:srgbClr val="6ADB9A"/>
                </a:solidFill>
                <a:latin typeface="Aptos"/>
              </a:defRPr>
            </a:pPr>
            <a:r>
              <a:t>LATER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5175504"/>
            <a:ext cx="804672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1300" b="0">
                <a:solidFill>
                  <a:srgbClr val="F6F9F6"/>
                </a:solidFill>
                <a:latin typeface="Aptos"/>
              </a:defRPr>
            </a:pPr>
            <a:r>
              <a:t>Pilot with a local partner; only then evaluate forecasting and route optimization.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126480"/>
            <a:ext cx="100584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100" b="0">
                <a:solidFill>
                  <a:srgbClr val="B8CAC0"/>
                </a:solidFill>
                <a:latin typeface="Aptos"/>
              </a:defRPr>
            </a:pPr>
            <a:r>
              <a:t>Keep the first version small, demonstrable and honest about its limits.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7899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6ADB9A"/>
                </a:solidFill>
                <a:latin typeface="Aptos"/>
              </a:defRPr>
            </a:pPr>
            <a:r>
              <a:t>11 • STARTING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F6F9F6"/>
                </a:solidFill>
                <a:latin typeface="Aptos"/>
              </a:defRPr>
            </a:pPr>
            <a:r>
              <a:t>References and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685800" cy="50292"/>
          </a:xfrm>
          <a:prstGeom prst="rect">
            <a:avLst/>
          </a:prstGeom>
          <a:solidFill>
            <a:srgbClr val="6AD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0">
                <a:solidFill>
                  <a:srgbClr val="B8CAC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2560320" cy="566928"/>
          </a:xfrm>
          <a:prstGeom prst="roundRect">
            <a:avLst/>
          </a:prstGeom>
          <a:solidFill>
            <a:srgbClr val="1E4439"/>
          </a:solidFill>
          <a:ln>
            <a:solidFill>
              <a:srgbClr val="1E4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01368"/>
            <a:ext cx="22860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1200" b="1">
                <a:solidFill>
                  <a:srgbClr val="6ADB9A"/>
                </a:solidFill>
                <a:latin typeface="Aptos"/>
              </a:defRPr>
            </a:pPr>
            <a:r>
              <a:t>e-NAM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764792"/>
            <a:ext cx="42976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100" b="0">
                <a:solidFill>
                  <a:srgbClr val="BEF2D2"/>
                </a:solidFill>
                <a:latin typeface="Aptos"/>
              </a:defRPr>
            </a:pPr>
            <a:r>
              <a:t>https://www.enam.gov.in/web/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764792"/>
            <a:ext cx="3383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0">
                <a:solidFill>
                  <a:srgbClr val="B8CAC0"/>
                </a:solidFill>
                <a:latin typeface="Aptos"/>
              </a:defRPr>
            </a:pPr>
            <a:r>
              <a:t>Context for India’s electronic agricultural market.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514600"/>
            <a:ext cx="2560320" cy="566928"/>
          </a:xfrm>
          <a:prstGeom prst="roundRect">
            <a:avLst/>
          </a:prstGeom>
          <a:solidFill>
            <a:srgbClr val="1E4439"/>
          </a:solidFill>
          <a:ln>
            <a:solidFill>
              <a:srgbClr val="1E4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24328"/>
            <a:ext cx="22860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1200" b="1">
                <a:solidFill>
                  <a:srgbClr val="6ADB9A"/>
                </a:solidFill>
                <a:latin typeface="Aptos"/>
              </a:defRPr>
            </a:pPr>
            <a:r>
              <a:t>Ministry of Consumer Affairs / PIB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587752"/>
            <a:ext cx="42976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100" b="0">
                <a:solidFill>
                  <a:srgbClr val="BEF2D2"/>
                </a:solidFill>
                <a:latin typeface="Aptos"/>
              </a:defRPr>
            </a:pPr>
            <a:r>
              <a:t>https://www.pib.gov.in/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587752"/>
            <a:ext cx="3383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0">
                <a:solidFill>
                  <a:srgbClr val="B8CAC0"/>
                </a:solidFill>
                <a:latin typeface="Aptos"/>
              </a:defRPr>
            </a:pPr>
            <a:r>
              <a:t>Official government announcements and policy context.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337560"/>
            <a:ext cx="2560320" cy="566928"/>
          </a:xfrm>
          <a:prstGeom prst="roundRect">
            <a:avLst/>
          </a:prstGeom>
          <a:solidFill>
            <a:srgbClr val="1E4439"/>
          </a:solidFill>
          <a:ln>
            <a:solidFill>
              <a:srgbClr val="1E4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47288"/>
            <a:ext cx="22860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1200" b="1">
                <a:solidFill>
                  <a:srgbClr val="6ADB9A"/>
                </a:solidFill>
                <a:latin typeface="Aptos"/>
              </a:defRPr>
            </a:pPr>
            <a:r>
              <a:t>OpenStreetMap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410712"/>
            <a:ext cx="42976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100" b="0">
                <a:solidFill>
                  <a:srgbClr val="BEF2D2"/>
                </a:solidFill>
                <a:latin typeface="Aptos"/>
              </a:defRPr>
            </a:pPr>
            <a:r>
              <a:t>https://www.openstreetmap.org/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410712"/>
            <a:ext cx="3383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0">
                <a:solidFill>
                  <a:srgbClr val="B8CAC0"/>
                </a:solidFill>
                <a:latin typeface="Aptos"/>
              </a:defRPr>
            </a:pPr>
            <a:r>
              <a:t>Map data and geographic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160520"/>
            <a:ext cx="2560320" cy="566928"/>
          </a:xfrm>
          <a:prstGeom prst="roundRect">
            <a:avLst/>
          </a:prstGeom>
          <a:solidFill>
            <a:srgbClr val="1E4439"/>
          </a:solidFill>
          <a:ln>
            <a:solidFill>
              <a:srgbClr val="1E4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70248"/>
            <a:ext cx="22860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1200" b="1">
                <a:solidFill>
                  <a:srgbClr val="6ADB9A"/>
                </a:solidFill>
                <a:latin typeface="Aptos"/>
              </a:defRPr>
            </a:pPr>
            <a:r>
              <a:t>Django documentation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233672"/>
            <a:ext cx="42976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100" b="0">
                <a:solidFill>
                  <a:srgbClr val="BEF2D2"/>
                </a:solidFill>
                <a:latin typeface="Aptos"/>
              </a:defRPr>
            </a:pPr>
            <a:r>
              <a:t>https://docs.djangoproject.com/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233672"/>
            <a:ext cx="3383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0">
                <a:solidFill>
                  <a:srgbClr val="B8CAC0"/>
                </a:solidFill>
                <a:latin typeface="Aptos"/>
              </a:defRPr>
            </a:pPr>
            <a:r>
              <a:t>Web application framework reference.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983480"/>
            <a:ext cx="2560320" cy="566928"/>
          </a:xfrm>
          <a:prstGeom prst="roundRect">
            <a:avLst/>
          </a:prstGeom>
          <a:solidFill>
            <a:srgbClr val="1E4439"/>
          </a:solidFill>
          <a:ln>
            <a:solidFill>
              <a:srgbClr val="1E4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093208"/>
            <a:ext cx="22860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1200" b="1">
                <a:solidFill>
                  <a:srgbClr val="6ADB9A"/>
                </a:solidFill>
                <a:latin typeface="Aptos"/>
              </a:defRPr>
            </a:pPr>
            <a:r>
              <a:t>scikit-learn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5056632"/>
            <a:ext cx="42976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100" b="0">
                <a:solidFill>
                  <a:srgbClr val="BEF2D2"/>
                </a:solidFill>
                <a:latin typeface="Aptos"/>
              </a:defRPr>
            </a:pPr>
            <a:r>
              <a:t>https://scikit-learn.org/stable/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056632"/>
            <a:ext cx="3383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0">
                <a:solidFill>
                  <a:srgbClr val="B8CAC0"/>
                </a:solidFill>
                <a:latin typeface="Aptos"/>
              </a:defRPr>
            </a:pPr>
            <a:r>
              <a:t>Possible future forecasting/modeling tools.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6080760"/>
            <a:ext cx="104241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0">
                <a:solidFill>
                  <a:srgbClr val="B8CAC0"/>
                </a:solidFill>
                <a:latin typeface="Aptos"/>
              </a:defRPr>
            </a:pPr>
            <a:r>
              <a:t>Use only sources you have personally checked; add any additional sources used in your final submission.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899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100" b="1">
                <a:solidFill>
                  <a:srgbClr val="6ADB9A"/>
                </a:solidFill>
                <a:latin typeface="Aptos"/>
              </a:defRPr>
            </a:pPr>
            <a:r>
              <a:t>CROPCIRCLE • SIH 26033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868680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3400" b="1">
                <a:solidFill>
                  <a:srgbClr val="F6F9F6"/>
                </a:solidFill>
                <a:latin typeface="Aptos Display"/>
              </a:defRPr>
            </a:pPr>
            <a:r>
              <a:t>Better matches.</a:t>
            </a:r>
            <a:br/>
            <a:r>
              <a:t>Clearer choices.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46120"/>
            <a:ext cx="877824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0">
                <a:solidFill>
                  <a:srgbClr val="BEF2D2"/>
                </a:solidFill>
                <a:latin typeface="Aptos"/>
              </a:defRPr>
            </a:pPr>
            <a:r>
              <a:t>Our first milestone is simple: help a farmer understand the available demand and estimated net earnings before deciding where to sell.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754880"/>
            <a:ext cx="7223760" cy="777240"/>
          </a:xfrm>
          <a:prstGeom prst="roundRect">
            <a:avLst/>
          </a:prstGeom>
          <a:solidFill>
            <a:srgbClr val="1E4439"/>
          </a:solidFill>
          <a:ln>
            <a:solidFill>
              <a:srgbClr val="1E4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937760"/>
            <a:ext cx="676656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1500" b="1">
                <a:solidFill>
                  <a:srgbClr val="F6F9F6"/>
                </a:solidFill>
                <a:latin typeface="Aptos"/>
              </a:defRPr>
            </a:pPr>
            <a:r>
              <a:t>Questions • Feedback • Local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17920"/>
            <a:ext cx="8686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0">
                <a:solidFill>
                  <a:srgbClr val="B8CAC0"/>
                </a:solidFill>
                <a:latin typeface="Aptos"/>
              </a:defRPr>
            </a:pPr>
            <a:r>
              <a:t>Concept proposal, not a claim of proven impact.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